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sldIdLst>
    <p:sldId id="256" r:id="rId2"/>
    <p:sldId id="257" r:id="rId3"/>
    <p:sldId id="258" r:id="rId4"/>
    <p:sldId id="259" r:id="rId5"/>
    <p:sldId id="260" r:id="rId6"/>
    <p:sldId id="261" r:id="rId7"/>
    <p:sldId id="262" r:id="rId8"/>
    <p:sldId id="263" r:id="rId9"/>
    <p:sldId id="264" r:id="rId10"/>
    <p:sldId id="265" r:id="rId1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106" d="100"/>
          <a:sy n="106" d="100"/>
        </p:scale>
        <p:origin x="792"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3.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2.png"/></Relationships>
</file>

<file path=ppt/slideLayouts/_rels/slideLayout9.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2.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920834" y="1346946"/>
            <a:ext cx="10222992" cy="80683"/>
          </a:xfrm>
          <a:prstGeom prst="rect">
            <a:avLst/>
          </a:prstGeom>
          <a:blipFill dpi="0" rotWithShape="1">
            <a:blip r:embed="rId2">
              <a:alphaModFix amt="8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6200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920834" y="4282762"/>
            <a:ext cx="10222992" cy="80683"/>
          </a:xfrm>
          <a:prstGeom prst="rect">
            <a:avLst/>
          </a:prstGeom>
          <a:blipFill dpi="0" rotWithShape="1">
            <a:blip r:embed="rId2">
              <a:alphaModFix amt="8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175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920834" y="1484779"/>
            <a:ext cx="10222992" cy="2743200"/>
          </a:xfrm>
          <a:prstGeom prst="rect">
            <a:avLst/>
          </a:prstGeom>
          <a:blipFill dpi="0" rotWithShape="1">
            <a:blip r:embed="rId2">
              <a:alphaModFix amt="8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grpSp>
        <p:nvGrpSpPr>
          <p:cNvPr id="10" name="Group 9"/>
          <p:cNvGrpSpPr/>
          <p:nvPr/>
        </p:nvGrpSpPr>
        <p:grpSpPr>
          <a:xfrm>
            <a:off x="9649215" y="4068923"/>
            <a:ext cx="1080904" cy="1080902"/>
            <a:chOff x="9685338" y="4460675"/>
            <a:chExt cx="1080904" cy="1080902"/>
          </a:xfrm>
        </p:grpSpPr>
        <p:sp>
          <p:nvSpPr>
            <p:cNvPr id="11" name="Oval 10"/>
            <p:cNvSpPr/>
            <p:nvPr/>
          </p:nvSpPr>
          <p:spPr>
            <a:xfrm>
              <a:off x="9685338" y="4460675"/>
              <a:ext cx="1080904" cy="1080902"/>
            </a:xfrm>
            <a:prstGeom prst="ellipse">
              <a:avLst/>
            </a:prstGeom>
            <a:blipFill dpi="0" rotWithShape="1">
              <a:blip r:embed="rId4">
                <a:duotone>
                  <a:schemeClr val="accent2">
                    <a:shade val="45000"/>
                    <a:satMod val="135000"/>
                  </a:schemeClr>
                  <a:prstClr val="white"/>
                </a:duotone>
                <a:extLst>
                  <a:ext uri="{BEBA8EAE-BF5A-486C-A8C5-ECC9F3942E4B}">
                    <a14:imgProps xmlns:a14="http://schemas.microsoft.com/office/drawing/2010/main">
                      <a14:imgLayer r:embed="rId5">
                        <a14:imgEffect>
                          <a14:saturation sat="95000"/>
                        </a14:imgEffect>
                      </a14:imgLayer>
                    </a14:imgProps>
                  </a:ext>
                </a:extLst>
              </a:blip>
              <a:srcRect/>
              <a:tile tx="0" ty="0" sx="85000" sy="85000" flip="none" algn="tl"/>
            </a:blipFill>
            <a:ln w="25400" cap="flat" cmpd="sng" algn="ctr">
              <a:noFill/>
              <a:prstDash val="solid"/>
            </a:ln>
            <a:effectLst/>
          </p:spPr>
        </p:sp>
        <p:sp>
          <p:nvSpPr>
            <p:cNvPr id="12" name="Oval 11"/>
            <p:cNvSpPr/>
            <p:nvPr/>
          </p:nvSpPr>
          <p:spPr>
            <a:xfrm>
              <a:off x="9793429" y="4568765"/>
              <a:ext cx="864723" cy="864722"/>
            </a:xfrm>
            <a:prstGeom prst="ellipse">
              <a:avLst/>
            </a:prstGeom>
            <a:noFill/>
            <a:ln w="25400" cap="flat" cmpd="sng" algn="ctr">
              <a:solidFill>
                <a:sysClr val="window" lastClr="FFFFFF"/>
              </a:solidFill>
              <a:prstDash val="solid"/>
            </a:ln>
            <a:effectLst/>
          </p:spPr>
        </p:sp>
      </p:grpSp>
      <p:sp>
        <p:nvSpPr>
          <p:cNvPr id="2" name="Title 1"/>
          <p:cNvSpPr>
            <a:spLocks noGrp="1"/>
          </p:cNvSpPr>
          <p:nvPr>
            <p:ph type="ctrTitle"/>
          </p:nvPr>
        </p:nvSpPr>
        <p:spPr>
          <a:xfrm>
            <a:off x="1051560" y="1432223"/>
            <a:ext cx="9966960" cy="3035808"/>
          </a:xfrm>
        </p:spPr>
        <p:txBody>
          <a:bodyPr anchor="ctr">
            <a:noAutofit/>
          </a:bodyPr>
          <a:lstStyle>
            <a:lvl1pPr algn="l">
              <a:lnSpc>
                <a:spcPct val="85000"/>
              </a:lnSpc>
              <a:defRPr sz="7200" b="1" cap="none" baseline="0">
                <a:blipFill dpi="0" rotWithShape="1">
                  <a:blip r:embed="rId4"/>
                  <a:srcRect/>
                  <a:tile tx="6350" ty="-127000" sx="65000" sy="64000" flip="none" algn="tl"/>
                </a:blipFill>
              </a:defRPr>
            </a:lvl1pPr>
          </a:lstStyle>
          <a:p>
            <a:r>
              <a:rPr lang="en-US"/>
              <a:t>Click to edit Master title style</a:t>
            </a:r>
            <a:endParaRPr lang="en-US" dirty="0"/>
          </a:p>
        </p:txBody>
      </p:sp>
      <p:sp>
        <p:nvSpPr>
          <p:cNvPr id="3" name="Subtitle 2"/>
          <p:cNvSpPr>
            <a:spLocks noGrp="1"/>
          </p:cNvSpPr>
          <p:nvPr>
            <p:ph type="subTitle" idx="1"/>
          </p:nvPr>
        </p:nvSpPr>
        <p:spPr>
          <a:xfrm>
            <a:off x="1069848" y="4389120"/>
            <a:ext cx="7891272" cy="1069848"/>
          </a:xfrm>
        </p:spPr>
        <p:txBody>
          <a:bodyPr>
            <a:normAutofit/>
          </a:bodyPr>
          <a:lstStyle>
            <a:lvl1pPr marL="0" indent="0" algn="l">
              <a:buNone/>
              <a:defRPr sz="2000" b="1">
                <a:solidFill>
                  <a:schemeClr val="accent2">
                    <a:lumMod val="75000"/>
                  </a:schemeClr>
                </a:solidFill>
              </a:defRPr>
            </a:lvl1pPr>
            <a:lvl2pPr marL="457200" indent="0" algn="ctr">
              <a:buNone/>
              <a:defRPr sz="2000"/>
            </a:lvl2pPr>
            <a:lvl3pPr marL="914400" indent="0" algn="ctr">
              <a:buNone/>
              <a:defRPr sz="20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E729FCF5-A0DB-4235-9162-2C1B74F56BFC}" type="datetimeFigureOut">
              <a:rPr lang="en-IN" smtClean="0"/>
              <a:t>06-Oct-24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a:xfrm>
            <a:off x="9592733" y="4289334"/>
            <a:ext cx="1193868" cy="640080"/>
          </a:xfrm>
        </p:spPr>
        <p:txBody>
          <a:bodyPr/>
          <a:lstStyle>
            <a:lvl1pPr>
              <a:defRPr sz="2800" b="1"/>
            </a:lvl1pPr>
          </a:lstStyle>
          <a:p>
            <a:fld id="{D299897A-4B4F-453E-9E24-3DCDE1546B98}" type="slidenum">
              <a:rPr lang="en-IN" smtClean="0"/>
              <a:t>‹#›</a:t>
            </a:fld>
            <a:endParaRPr lang="en-IN"/>
          </a:p>
        </p:txBody>
      </p:sp>
    </p:spTree>
    <p:extLst>
      <p:ext uri="{BB962C8B-B14F-4D97-AF65-F5344CB8AC3E}">
        <p14:creationId xmlns:p14="http://schemas.microsoft.com/office/powerpoint/2010/main" val="221847458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729FCF5-A0DB-4235-9162-2C1B74F56BFC}" type="datetimeFigureOut">
              <a:rPr lang="en-IN" smtClean="0"/>
              <a:t>06-Oct-24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299897A-4B4F-453E-9E24-3DCDE1546B98}" type="slidenum">
              <a:rPr lang="en-IN" smtClean="0"/>
              <a:t>‹#›</a:t>
            </a:fld>
            <a:endParaRPr lang="en-IN"/>
          </a:p>
        </p:txBody>
      </p:sp>
    </p:spTree>
    <p:extLst>
      <p:ext uri="{BB962C8B-B14F-4D97-AF65-F5344CB8AC3E}">
        <p14:creationId xmlns:p14="http://schemas.microsoft.com/office/powerpoint/2010/main" val="360262098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7" name="Rectangle 6"/>
          <p:cNvSpPr/>
          <p:nvPr/>
        </p:nvSpPr>
        <p:spPr>
          <a:xfrm>
            <a:off x="0" y="4917989"/>
            <a:ext cx="12192000" cy="1940010"/>
          </a:xfrm>
          <a:prstGeom prst="rect">
            <a:avLst/>
          </a:prstGeom>
          <a:blipFill dpi="0" rotWithShape="1">
            <a:blip r:embed="rId2">
              <a:alphaModFix amt="8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2167128" y="1225296"/>
            <a:ext cx="9281160" cy="3520440"/>
          </a:xfrm>
        </p:spPr>
        <p:txBody>
          <a:bodyPr anchor="ctr">
            <a:normAutofit/>
          </a:bodyPr>
          <a:lstStyle>
            <a:lvl1pPr>
              <a:lnSpc>
                <a:spcPct val="85000"/>
              </a:lnSpc>
              <a:defRPr sz="7200" b="1"/>
            </a:lvl1pPr>
          </a:lstStyle>
          <a:p>
            <a:r>
              <a:rPr lang="en-US"/>
              <a:t>Click to edit Master title style</a:t>
            </a:r>
            <a:endParaRPr lang="en-US" dirty="0"/>
          </a:p>
        </p:txBody>
      </p:sp>
      <p:sp>
        <p:nvSpPr>
          <p:cNvPr id="3" name="Text Placeholder 2"/>
          <p:cNvSpPr>
            <a:spLocks noGrp="1"/>
          </p:cNvSpPr>
          <p:nvPr>
            <p:ph type="body" idx="1"/>
          </p:nvPr>
        </p:nvSpPr>
        <p:spPr>
          <a:xfrm>
            <a:off x="2165774" y="5020056"/>
            <a:ext cx="9052560" cy="1066800"/>
          </a:xfrm>
        </p:spPr>
        <p:txBody>
          <a:bodyPr anchor="t">
            <a:normAutofit/>
          </a:bodyPr>
          <a:lstStyle>
            <a:lvl1pPr marL="0" indent="0">
              <a:buNone/>
              <a:defRPr sz="2000" b="1">
                <a:solidFill>
                  <a:schemeClr val="accent2">
                    <a:lumMod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8593667" y="6272784"/>
            <a:ext cx="2644309" cy="365125"/>
          </a:xfrm>
        </p:spPr>
        <p:txBody>
          <a:bodyPr/>
          <a:lstStyle>
            <a:lvl1pPr>
              <a:defRPr>
                <a:solidFill>
                  <a:schemeClr val="accent2">
                    <a:lumMod val="50000"/>
                  </a:schemeClr>
                </a:solidFill>
              </a:defRPr>
            </a:lvl1pPr>
          </a:lstStyle>
          <a:p>
            <a:fld id="{E729FCF5-A0DB-4235-9162-2C1B74F56BFC}" type="datetimeFigureOut">
              <a:rPr lang="en-IN" smtClean="0"/>
              <a:t>06-Oct-24</a:t>
            </a:fld>
            <a:endParaRPr lang="en-IN"/>
          </a:p>
        </p:txBody>
      </p:sp>
      <p:sp>
        <p:nvSpPr>
          <p:cNvPr id="5" name="Footer Placeholder 4"/>
          <p:cNvSpPr>
            <a:spLocks noGrp="1"/>
          </p:cNvSpPr>
          <p:nvPr>
            <p:ph type="ftr" sz="quarter" idx="11"/>
          </p:nvPr>
        </p:nvSpPr>
        <p:spPr>
          <a:xfrm>
            <a:off x="2182708" y="6272784"/>
            <a:ext cx="6327648" cy="365125"/>
          </a:xfrm>
        </p:spPr>
        <p:txBody>
          <a:bodyPr/>
          <a:lstStyle>
            <a:lvl1pPr>
              <a:defRPr>
                <a:solidFill>
                  <a:schemeClr val="accent2">
                    <a:lumMod val="50000"/>
                  </a:schemeClr>
                </a:solidFill>
              </a:defRPr>
            </a:lvl1pPr>
          </a:lstStyle>
          <a:p>
            <a:endParaRPr lang="en-IN"/>
          </a:p>
        </p:txBody>
      </p:sp>
      <p:grpSp>
        <p:nvGrpSpPr>
          <p:cNvPr id="8" name="Group 7"/>
          <p:cNvGrpSpPr/>
          <p:nvPr/>
        </p:nvGrpSpPr>
        <p:grpSpPr>
          <a:xfrm>
            <a:off x="897399" y="2325848"/>
            <a:ext cx="1080904" cy="1080902"/>
            <a:chOff x="9685338" y="4460675"/>
            <a:chExt cx="1080904" cy="1080902"/>
          </a:xfrm>
        </p:grpSpPr>
        <p:sp>
          <p:nvSpPr>
            <p:cNvPr id="9" name="Oval 8"/>
            <p:cNvSpPr/>
            <p:nvPr/>
          </p:nvSpPr>
          <p:spPr>
            <a:xfrm>
              <a:off x="9685338" y="4460675"/>
              <a:ext cx="1080904" cy="1080902"/>
            </a:xfrm>
            <a:prstGeom prst="ellipse">
              <a:avLst/>
            </a:prstGeom>
            <a:blipFill dpi="0" rotWithShape="1">
              <a:blip r:embed="rId4">
                <a:duotone>
                  <a:schemeClr val="accent2">
                    <a:shade val="45000"/>
                    <a:satMod val="135000"/>
                  </a:schemeClr>
                  <a:prstClr val="white"/>
                </a:duotone>
                <a:extLst>
                  <a:ext uri="{BEBA8EAE-BF5A-486C-A8C5-ECC9F3942E4B}">
                    <a14:imgProps xmlns:a14="http://schemas.microsoft.com/office/drawing/2010/main">
                      <a14:imgLayer r:embed="rId5">
                        <a14:imgEffect>
                          <a14:saturation sat="95000"/>
                        </a14:imgEffect>
                      </a14:imgLayer>
                    </a14:imgProps>
                  </a:ext>
                </a:extLst>
              </a:blip>
              <a:srcRect/>
              <a:tile tx="0" ty="0" sx="85000" sy="85000" flip="none" algn="tl"/>
            </a:blipFill>
            <a:ln w="25400" cap="flat" cmpd="sng" algn="ctr">
              <a:noFill/>
              <a:prstDash val="solid"/>
            </a:ln>
            <a:effectLst/>
          </p:spPr>
        </p:sp>
        <p:sp>
          <p:nvSpPr>
            <p:cNvPr id="10" name="Oval 9"/>
            <p:cNvSpPr/>
            <p:nvPr/>
          </p:nvSpPr>
          <p:spPr>
            <a:xfrm>
              <a:off x="9793429" y="4568765"/>
              <a:ext cx="864723" cy="864722"/>
            </a:xfrm>
            <a:prstGeom prst="ellipse">
              <a:avLst/>
            </a:prstGeom>
            <a:noFill/>
            <a:ln w="25400" cap="flat" cmpd="sng" algn="ctr">
              <a:solidFill>
                <a:sysClr val="window" lastClr="FFFFFF"/>
              </a:solidFill>
              <a:prstDash val="solid"/>
            </a:ln>
            <a:effectLst/>
          </p:spPr>
        </p:sp>
      </p:grpSp>
      <p:sp>
        <p:nvSpPr>
          <p:cNvPr id="6" name="Slide Number Placeholder 5"/>
          <p:cNvSpPr>
            <a:spLocks noGrp="1"/>
          </p:cNvSpPr>
          <p:nvPr>
            <p:ph type="sldNum" sz="quarter" idx="12"/>
          </p:nvPr>
        </p:nvSpPr>
        <p:spPr>
          <a:xfrm>
            <a:off x="843702" y="2506133"/>
            <a:ext cx="1188298" cy="720332"/>
          </a:xfrm>
        </p:spPr>
        <p:txBody>
          <a:bodyPr/>
          <a:lstStyle>
            <a:lvl1pPr>
              <a:defRPr sz="2800"/>
            </a:lvl1pPr>
          </a:lstStyle>
          <a:p>
            <a:fld id="{D299897A-4B4F-453E-9E24-3DCDE1546B98}" type="slidenum">
              <a:rPr lang="en-IN" smtClean="0"/>
              <a:t>‹#›</a:t>
            </a:fld>
            <a:endParaRPr lang="en-IN"/>
          </a:p>
        </p:txBody>
      </p:sp>
    </p:spTree>
    <p:extLst>
      <p:ext uri="{BB962C8B-B14F-4D97-AF65-F5344CB8AC3E}">
        <p14:creationId xmlns:p14="http://schemas.microsoft.com/office/powerpoint/2010/main" val="191990969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069848" y="2194560"/>
            <a:ext cx="4754880" cy="39776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364224" y="2194560"/>
            <a:ext cx="4754880" cy="39776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729FCF5-A0DB-4235-9162-2C1B74F56BFC}" type="datetimeFigureOut">
              <a:rPr lang="en-IN" smtClean="0"/>
              <a:t>06-Oct-24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D299897A-4B4F-453E-9E24-3DCDE1546B98}" type="slidenum">
              <a:rPr lang="en-IN" smtClean="0"/>
              <a:t>‹#›</a:t>
            </a:fld>
            <a:endParaRPr lang="en-IN"/>
          </a:p>
        </p:txBody>
      </p:sp>
    </p:spTree>
    <p:extLst>
      <p:ext uri="{BB962C8B-B14F-4D97-AF65-F5344CB8AC3E}">
        <p14:creationId xmlns:p14="http://schemas.microsoft.com/office/powerpoint/2010/main" val="119388662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1066800" y="2048256"/>
            <a:ext cx="4754880" cy="640080"/>
          </a:xfrm>
        </p:spPr>
        <p:txBody>
          <a:bodyPr anchor="ctr">
            <a:normAutofit/>
          </a:bodyPr>
          <a:lstStyle>
            <a:lvl1pPr marL="0" indent="0">
              <a:buNone/>
              <a:defRPr sz="2000" b="1">
                <a:solidFill>
                  <a:schemeClr val="accent2">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69848" y="2743200"/>
            <a:ext cx="4754880" cy="32918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364224" y="2048256"/>
            <a:ext cx="4754880" cy="640080"/>
          </a:xfrm>
        </p:spPr>
        <p:txBody>
          <a:bodyPr anchor="ctr">
            <a:normAutofit/>
          </a:bodyPr>
          <a:lstStyle>
            <a:lvl1pPr marL="0" indent="0">
              <a:buNone/>
              <a:defRPr sz="2000" b="1">
                <a:solidFill>
                  <a:schemeClr val="accent2">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364224" y="2743200"/>
            <a:ext cx="4754880" cy="32918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E729FCF5-A0DB-4235-9162-2C1B74F56BFC}" type="datetimeFigureOut">
              <a:rPr lang="en-IN" smtClean="0"/>
              <a:t>06-Oct-24</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D299897A-4B4F-453E-9E24-3DCDE1546B98}" type="slidenum">
              <a:rPr lang="en-IN" smtClean="0"/>
              <a:t>‹#›</a:t>
            </a:fld>
            <a:endParaRPr lang="en-IN"/>
          </a:p>
        </p:txBody>
      </p:sp>
    </p:spTree>
    <p:extLst>
      <p:ext uri="{BB962C8B-B14F-4D97-AF65-F5344CB8AC3E}">
        <p14:creationId xmlns:p14="http://schemas.microsoft.com/office/powerpoint/2010/main" val="176415708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E729FCF5-A0DB-4235-9162-2C1B74F56BFC}" type="datetimeFigureOut">
              <a:rPr lang="en-IN" smtClean="0"/>
              <a:t>06-Oct-24</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D299897A-4B4F-453E-9E24-3DCDE1546B98}" type="slidenum">
              <a:rPr lang="en-IN" smtClean="0"/>
              <a:t>‹#›</a:t>
            </a:fld>
            <a:endParaRPr lang="en-IN"/>
          </a:p>
        </p:txBody>
      </p:sp>
    </p:spTree>
    <p:extLst>
      <p:ext uri="{BB962C8B-B14F-4D97-AF65-F5344CB8AC3E}">
        <p14:creationId xmlns:p14="http://schemas.microsoft.com/office/powerpoint/2010/main" val="83900267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729FCF5-A0DB-4235-9162-2C1B74F56BFC}" type="datetimeFigureOut">
              <a:rPr lang="en-IN" smtClean="0"/>
              <a:t>06-Oct-24</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D299897A-4B4F-453E-9E24-3DCDE1546B98}" type="slidenum">
              <a:rPr lang="en-IN" smtClean="0"/>
              <a:t>‹#›</a:t>
            </a:fld>
            <a:endParaRPr lang="en-IN"/>
          </a:p>
        </p:txBody>
      </p:sp>
    </p:spTree>
    <p:extLst>
      <p:ext uri="{BB962C8B-B14F-4D97-AF65-F5344CB8AC3E}">
        <p14:creationId xmlns:p14="http://schemas.microsoft.com/office/powerpoint/2010/main" val="46238358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8303740" y="0"/>
            <a:ext cx="3888259" cy="6857999"/>
          </a:xfrm>
          <a:prstGeom prst="rect">
            <a:avLst/>
          </a:prstGeom>
          <a:blipFill dpi="0" rotWithShape="1">
            <a:blip r:embed="rId2">
              <a:alphaModFix amt="6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549640" y="685800"/>
            <a:ext cx="3200400" cy="1737360"/>
          </a:xfrm>
        </p:spPr>
        <p:txBody>
          <a:bodyPr anchor="b">
            <a:normAutofit/>
          </a:bodyPr>
          <a:lstStyle>
            <a:lvl1pPr>
              <a:defRPr sz="3200" b="1"/>
            </a:lvl1pPr>
          </a:lstStyle>
          <a:p>
            <a:r>
              <a:rPr lang="en-US"/>
              <a:t>Click to edit Master title style</a:t>
            </a:r>
            <a:endParaRPr lang="en-US" dirty="0"/>
          </a:p>
        </p:txBody>
      </p:sp>
      <p:sp>
        <p:nvSpPr>
          <p:cNvPr id="3" name="Content Placeholder 2"/>
          <p:cNvSpPr>
            <a:spLocks noGrp="1"/>
          </p:cNvSpPr>
          <p:nvPr>
            <p:ph idx="1"/>
          </p:nvPr>
        </p:nvSpPr>
        <p:spPr>
          <a:xfrm>
            <a:off x="838200" y="685800"/>
            <a:ext cx="6711696" cy="5020056"/>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549640" y="2423160"/>
            <a:ext cx="3200400" cy="3291840"/>
          </a:xfrm>
        </p:spPr>
        <p:txBody>
          <a:bodyPr>
            <a:normAutofit/>
          </a:bodyPr>
          <a:lstStyle>
            <a:lvl1pPr marL="0" indent="0">
              <a:lnSpc>
                <a:spcPct val="100000"/>
              </a:lnSpc>
              <a:spcBef>
                <a:spcPts val="1000"/>
              </a:spcBef>
              <a:buNone/>
              <a:defRPr sz="1400">
                <a:solidFill>
                  <a:schemeClr val="accent2">
                    <a:lumMod val="5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E729FCF5-A0DB-4235-9162-2C1B74F56BFC}" type="datetimeFigureOut">
              <a:rPr lang="en-IN" smtClean="0"/>
              <a:t>06-Oct-24</a:t>
            </a:fld>
            <a:endParaRPr lang="en-IN"/>
          </a:p>
        </p:txBody>
      </p:sp>
      <p:sp>
        <p:nvSpPr>
          <p:cNvPr id="6" name="Footer Placeholder 5"/>
          <p:cNvSpPr>
            <a:spLocks noGrp="1"/>
          </p:cNvSpPr>
          <p:nvPr>
            <p:ph type="ftr" sz="quarter" idx="11"/>
          </p:nvPr>
        </p:nvSpPr>
        <p:spPr/>
        <p:txBody>
          <a:bodyPr/>
          <a:lstStyle/>
          <a:p>
            <a:endParaRPr lang="en-IN"/>
          </a:p>
        </p:txBody>
      </p:sp>
      <p:grpSp>
        <p:nvGrpSpPr>
          <p:cNvPr id="9" name="Group 8"/>
          <p:cNvGrpSpPr>
            <a:grpSpLocks noChangeAspect="1"/>
          </p:cNvGrpSpPr>
          <p:nvPr/>
        </p:nvGrpSpPr>
        <p:grpSpPr>
          <a:xfrm>
            <a:off x="11401725" y="6229681"/>
            <a:ext cx="457200" cy="457200"/>
            <a:chOff x="11361456" y="6195813"/>
            <a:chExt cx="548640" cy="548640"/>
          </a:xfrm>
        </p:grpSpPr>
        <p:sp>
          <p:nvSpPr>
            <p:cNvPr id="10" name="Oval 9"/>
            <p:cNvSpPr/>
            <p:nvPr/>
          </p:nvSpPr>
          <p:spPr>
            <a:xfrm>
              <a:off x="11361456" y="6195813"/>
              <a:ext cx="548640" cy="548640"/>
            </a:xfrm>
            <a:prstGeom prst="ellipse">
              <a:avLst/>
            </a:prstGeom>
            <a:blipFill dpi="0" rotWithShape="1">
              <a:blip r:embed="rId4">
                <a:duotone>
                  <a:schemeClr val="accent2">
                    <a:shade val="45000"/>
                    <a:satMod val="135000"/>
                  </a:schemeClr>
                  <a:prstClr val="white"/>
                </a:duotone>
                <a:extLst>
                  <a:ext uri="{BEBA8EAE-BF5A-486C-A8C5-ECC9F3942E4B}">
                    <a14:imgProps xmlns:a14="http://schemas.microsoft.com/office/drawing/2010/main">
                      <a14:imgLayer r:embed="rId5">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sp>
        <p:sp>
          <p:nvSpPr>
            <p:cNvPr id="11" name="Oval 10"/>
            <p:cNvSpPr/>
            <p:nvPr/>
          </p:nvSpPr>
          <p:spPr>
            <a:xfrm>
              <a:off x="11396488" y="6230844"/>
              <a:ext cx="478576" cy="478578"/>
            </a:xfrm>
            <a:prstGeom prst="ellipse">
              <a:avLst/>
            </a:prstGeom>
            <a:noFill/>
            <a:ln w="12700" cap="flat" cmpd="sng" algn="ctr">
              <a:solidFill>
                <a:sysClr val="window" lastClr="FFFFFF"/>
              </a:solidFill>
              <a:prstDash val="solid"/>
            </a:ln>
            <a:effectLst/>
          </p:spPr>
        </p:sp>
      </p:grpSp>
      <p:sp>
        <p:nvSpPr>
          <p:cNvPr id="7" name="Slide Number Placeholder 6"/>
          <p:cNvSpPr>
            <a:spLocks noGrp="1"/>
          </p:cNvSpPr>
          <p:nvPr>
            <p:ph type="sldNum" sz="quarter" idx="12"/>
          </p:nvPr>
        </p:nvSpPr>
        <p:spPr/>
        <p:txBody>
          <a:bodyPr/>
          <a:lstStyle/>
          <a:p>
            <a:fld id="{D299897A-4B4F-453E-9E24-3DCDE1546B98}" type="slidenum">
              <a:rPr lang="en-IN" smtClean="0"/>
              <a:t>‹#›</a:t>
            </a:fld>
            <a:endParaRPr lang="en-IN"/>
          </a:p>
        </p:txBody>
      </p:sp>
    </p:spTree>
    <p:extLst>
      <p:ext uri="{BB962C8B-B14F-4D97-AF65-F5344CB8AC3E}">
        <p14:creationId xmlns:p14="http://schemas.microsoft.com/office/powerpoint/2010/main" val="313035501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11" name="Rectangle 10"/>
          <p:cNvSpPr/>
          <p:nvPr/>
        </p:nvSpPr>
        <p:spPr>
          <a:xfrm>
            <a:off x="8303740" y="0"/>
            <a:ext cx="3888259" cy="6857999"/>
          </a:xfrm>
          <a:prstGeom prst="rect">
            <a:avLst/>
          </a:prstGeom>
          <a:blipFill dpi="0" rotWithShape="1">
            <a:blip r:embed="rId2">
              <a:alphaModFix amt="6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549640" y="685800"/>
            <a:ext cx="3200400" cy="1737360"/>
          </a:xfrm>
        </p:spPr>
        <p:txBody>
          <a:bodyPr anchor="b">
            <a:normAutofit/>
          </a:bodyPr>
          <a:lstStyle>
            <a:lvl1pPr>
              <a:defRPr sz="3200" b="1"/>
            </a:lvl1pPr>
          </a:lstStyle>
          <a:p>
            <a:r>
              <a:rPr lang="en-US"/>
              <a:t>Click to edit Master title style</a:t>
            </a:r>
            <a:endParaRPr lang="en-US" dirty="0"/>
          </a:p>
        </p:txBody>
      </p:sp>
      <p:sp>
        <p:nvSpPr>
          <p:cNvPr id="3" name="Picture Placeholder 2"/>
          <p:cNvSpPr>
            <a:spLocks noGrp="1" noChangeAspect="1"/>
          </p:cNvSpPr>
          <p:nvPr>
            <p:ph type="pic" idx="1"/>
          </p:nvPr>
        </p:nvSpPr>
        <p:spPr>
          <a:xfrm>
            <a:off x="0" y="0"/>
            <a:ext cx="8303740" cy="6858000"/>
          </a:xfrm>
          <a:solidFill>
            <a:schemeClr val="tx2">
              <a:lumMod val="20000"/>
              <a:lumOff val="80000"/>
            </a:schemeClr>
          </a:solidFill>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549640" y="2423160"/>
            <a:ext cx="3200400" cy="3291840"/>
          </a:xfrm>
        </p:spPr>
        <p:txBody>
          <a:bodyPr>
            <a:normAutofit/>
          </a:bodyPr>
          <a:lstStyle>
            <a:lvl1pPr marL="0" indent="0">
              <a:lnSpc>
                <a:spcPct val="100000"/>
              </a:lnSpc>
              <a:spcBef>
                <a:spcPts val="1000"/>
              </a:spcBef>
              <a:buNone/>
              <a:defRPr sz="1400">
                <a:solidFill>
                  <a:schemeClr val="accent2">
                    <a:lumMod val="5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lvl1pPr>
              <a:defRPr>
                <a:solidFill>
                  <a:schemeClr val="accent2">
                    <a:lumMod val="75000"/>
                  </a:schemeClr>
                </a:solidFill>
              </a:defRPr>
            </a:lvl1pPr>
          </a:lstStyle>
          <a:p>
            <a:fld id="{E729FCF5-A0DB-4235-9162-2C1B74F56BFC}" type="datetimeFigureOut">
              <a:rPr lang="en-IN" smtClean="0"/>
              <a:t>06-Oct-24</a:t>
            </a:fld>
            <a:endParaRPr lang="en-IN"/>
          </a:p>
        </p:txBody>
      </p:sp>
      <p:grpSp>
        <p:nvGrpSpPr>
          <p:cNvPr id="8" name="Group 7"/>
          <p:cNvGrpSpPr>
            <a:grpSpLocks noChangeAspect="1"/>
          </p:cNvGrpSpPr>
          <p:nvPr/>
        </p:nvGrpSpPr>
        <p:grpSpPr>
          <a:xfrm>
            <a:off x="11401725" y="6229681"/>
            <a:ext cx="457200" cy="457200"/>
            <a:chOff x="11361456" y="6195813"/>
            <a:chExt cx="548640" cy="548640"/>
          </a:xfrm>
        </p:grpSpPr>
        <p:sp>
          <p:nvSpPr>
            <p:cNvPr id="9" name="Oval 8"/>
            <p:cNvSpPr/>
            <p:nvPr/>
          </p:nvSpPr>
          <p:spPr>
            <a:xfrm>
              <a:off x="11361456" y="6195813"/>
              <a:ext cx="548640" cy="548640"/>
            </a:xfrm>
            <a:prstGeom prst="ellipse">
              <a:avLst/>
            </a:prstGeom>
            <a:blipFill dpi="0" rotWithShape="1">
              <a:blip r:embed="rId4">
                <a:duotone>
                  <a:schemeClr val="accent2">
                    <a:shade val="45000"/>
                    <a:satMod val="135000"/>
                  </a:schemeClr>
                  <a:prstClr val="white"/>
                </a:duotone>
                <a:extLst>
                  <a:ext uri="{BEBA8EAE-BF5A-486C-A8C5-ECC9F3942E4B}">
                    <a14:imgProps xmlns:a14="http://schemas.microsoft.com/office/drawing/2010/main">
                      <a14:imgLayer r:embed="rId5">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sp>
        <p:sp>
          <p:nvSpPr>
            <p:cNvPr id="10" name="Oval 9"/>
            <p:cNvSpPr/>
            <p:nvPr/>
          </p:nvSpPr>
          <p:spPr>
            <a:xfrm>
              <a:off x="11396488" y="6230844"/>
              <a:ext cx="478576" cy="478578"/>
            </a:xfrm>
            <a:prstGeom prst="ellipse">
              <a:avLst/>
            </a:prstGeom>
            <a:noFill/>
            <a:ln w="12700" cap="flat" cmpd="sng" algn="ctr">
              <a:solidFill>
                <a:sysClr val="window" lastClr="FFFFFF"/>
              </a:solidFill>
              <a:prstDash val="solid"/>
            </a:ln>
            <a:effectLst/>
          </p:spPr>
        </p:sp>
      </p:grpSp>
      <p:sp>
        <p:nvSpPr>
          <p:cNvPr id="7" name="Slide Number Placeholder 6"/>
          <p:cNvSpPr>
            <a:spLocks noGrp="1"/>
          </p:cNvSpPr>
          <p:nvPr>
            <p:ph type="sldNum" sz="quarter" idx="12"/>
          </p:nvPr>
        </p:nvSpPr>
        <p:spPr/>
        <p:txBody>
          <a:bodyPr/>
          <a:lstStyle/>
          <a:p>
            <a:fld id="{D299897A-4B4F-453E-9E24-3DCDE1546B98}" type="slidenum">
              <a:rPr lang="en-IN" smtClean="0"/>
              <a:t>‹#›</a:t>
            </a:fld>
            <a:endParaRPr lang="en-IN"/>
          </a:p>
        </p:txBody>
      </p:sp>
    </p:spTree>
    <p:extLst>
      <p:ext uri="{BB962C8B-B14F-4D97-AF65-F5344CB8AC3E}">
        <p14:creationId xmlns:p14="http://schemas.microsoft.com/office/powerpoint/2010/main" val="19243662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729FCF5-A0DB-4235-9162-2C1B74F56BFC}" type="datetimeFigureOut">
              <a:rPr lang="en-IN" smtClean="0"/>
              <a:t>06-Oct-24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299897A-4B4F-453E-9E24-3DCDE1546B98}" type="slidenum">
              <a:rPr lang="en-IN" smtClean="0"/>
              <a:t>‹#›</a:t>
            </a:fld>
            <a:endParaRPr lang="en-IN"/>
          </a:p>
        </p:txBody>
      </p:sp>
    </p:spTree>
    <p:extLst>
      <p:ext uri="{BB962C8B-B14F-4D97-AF65-F5344CB8AC3E}">
        <p14:creationId xmlns:p14="http://schemas.microsoft.com/office/powerpoint/2010/main" val="89906682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533400"/>
            <a:ext cx="2552700" cy="56388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066800" y="533400"/>
            <a:ext cx="7505700" cy="56388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729FCF5-A0DB-4235-9162-2C1B74F56BFC}" type="datetimeFigureOut">
              <a:rPr lang="en-IN" smtClean="0"/>
              <a:t>06-Oct-24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299897A-4B4F-453E-9E24-3DCDE1546B98}" type="slidenum">
              <a:rPr lang="en-IN" smtClean="0"/>
              <a:t>‹#›</a:t>
            </a:fld>
            <a:endParaRPr lang="en-IN"/>
          </a:p>
        </p:txBody>
      </p:sp>
    </p:spTree>
    <p:extLst>
      <p:ext uri="{BB962C8B-B14F-4D97-AF65-F5344CB8AC3E}">
        <p14:creationId xmlns:p14="http://schemas.microsoft.com/office/powerpoint/2010/main" val="250055548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2.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3.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microsoft.com/office/2007/relationships/hdphoto" Target="../media/hdphoto1.wdp"/></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069848" y="484632"/>
            <a:ext cx="10058400" cy="1609344"/>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069848" y="2121408"/>
            <a:ext cx="10058400" cy="405079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964424" y="6272784"/>
            <a:ext cx="3273552" cy="365125"/>
          </a:xfrm>
          <a:prstGeom prst="rect">
            <a:avLst/>
          </a:prstGeom>
        </p:spPr>
        <p:txBody>
          <a:bodyPr vert="horz" lIns="91440" tIns="45720" rIns="91440" bIns="45720" rtlCol="0" anchor="ctr"/>
          <a:lstStyle>
            <a:lvl1pPr algn="r">
              <a:defRPr sz="1100">
                <a:solidFill>
                  <a:schemeClr val="accent2">
                    <a:lumMod val="50000"/>
                  </a:schemeClr>
                </a:solidFill>
              </a:defRPr>
            </a:lvl1pPr>
          </a:lstStyle>
          <a:p>
            <a:fld id="{E729FCF5-A0DB-4235-9162-2C1B74F56BFC}" type="datetimeFigureOut">
              <a:rPr lang="en-IN" smtClean="0"/>
              <a:t>06-Oct-24</a:t>
            </a:fld>
            <a:endParaRPr lang="en-IN"/>
          </a:p>
        </p:txBody>
      </p:sp>
      <p:sp>
        <p:nvSpPr>
          <p:cNvPr id="5" name="Footer Placeholder 4"/>
          <p:cNvSpPr>
            <a:spLocks noGrp="1"/>
          </p:cNvSpPr>
          <p:nvPr>
            <p:ph type="ftr" sz="quarter" idx="3"/>
          </p:nvPr>
        </p:nvSpPr>
        <p:spPr>
          <a:xfrm>
            <a:off x="1088136" y="6272784"/>
            <a:ext cx="6327648" cy="365125"/>
          </a:xfrm>
          <a:prstGeom prst="rect">
            <a:avLst/>
          </a:prstGeom>
        </p:spPr>
        <p:txBody>
          <a:bodyPr vert="horz" lIns="91440" tIns="45720" rIns="91440" bIns="45720" rtlCol="0" anchor="ctr"/>
          <a:lstStyle>
            <a:lvl1pPr algn="l">
              <a:defRPr sz="1100">
                <a:solidFill>
                  <a:schemeClr val="accent2">
                    <a:lumMod val="50000"/>
                  </a:schemeClr>
                </a:solidFill>
              </a:defRPr>
            </a:lvl1pPr>
          </a:lstStyle>
          <a:p>
            <a:endParaRPr lang="en-IN"/>
          </a:p>
        </p:txBody>
      </p:sp>
      <p:grpSp>
        <p:nvGrpSpPr>
          <p:cNvPr id="7" name="Group 6"/>
          <p:cNvGrpSpPr>
            <a:grpSpLocks noChangeAspect="1"/>
          </p:cNvGrpSpPr>
          <p:nvPr/>
        </p:nvGrpSpPr>
        <p:grpSpPr>
          <a:xfrm>
            <a:off x="11401725" y="6229681"/>
            <a:ext cx="457200" cy="457200"/>
            <a:chOff x="11361456" y="6195813"/>
            <a:chExt cx="548640" cy="548640"/>
          </a:xfrm>
        </p:grpSpPr>
        <p:sp>
          <p:nvSpPr>
            <p:cNvPr id="8" name="Oval 7"/>
            <p:cNvSpPr/>
            <p:nvPr/>
          </p:nvSpPr>
          <p:spPr>
            <a:xfrm>
              <a:off x="11361456" y="6195813"/>
              <a:ext cx="548640" cy="548640"/>
            </a:xfrm>
            <a:prstGeom prst="ellipse">
              <a:avLst/>
            </a:prstGeom>
            <a:blipFill dpi="0" rotWithShape="1">
              <a:blip r:embed="rId13">
                <a:duotone>
                  <a:schemeClr val="accent2">
                    <a:shade val="45000"/>
                    <a:satMod val="135000"/>
                  </a:schemeClr>
                  <a:prstClr val="white"/>
                </a:duotone>
                <a:extLst>
                  <a:ext uri="{BEBA8EAE-BF5A-486C-A8C5-ECC9F3942E4B}">
                    <a14:imgProps xmlns:a14="http://schemas.microsoft.com/office/drawing/2010/main">
                      <a14:imgLayer r:embed="rId14">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sp>
        <p:sp>
          <p:nvSpPr>
            <p:cNvPr id="9" name="Oval 8"/>
            <p:cNvSpPr/>
            <p:nvPr/>
          </p:nvSpPr>
          <p:spPr>
            <a:xfrm>
              <a:off x="11396488" y="6230844"/>
              <a:ext cx="478576" cy="478578"/>
            </a:xfrm>
            <a:prstGeom prst="ellipse">
              <a:avLst/>
            </a:prstGeom>
            <a:noFill/>
            <a:ln w="12700" cap="flat" cmpd="sng" algn="ctr">
              <a:solidFill>
                <a:srgbClr val="FFFFFF"/>
              </a:solidFill>
              <a:prstDash val="solid"/>
            </a:ln>
            <a:effectLst/>
          </p:spPr>
        </p:sp>
      </p:grpSp>
      <p:sp>
        <p:nvSpPr>
          <p:cNvPr id="6" name="Slide Number Placeholder 5"/>
          <p:cNvSpPr>
            <a:spLocks noGrp="1"/>
          </p:cNvSpPr>
          <p:nvPr>
            <p:ph type="sldNum" sz="quarter" idx="4"/>
          </p:nvPr>
        </p:nvSpPr>
        <p:spPr>
          <a:xfrm>
            <a:off x="11311128" y="6272784"/>
            <a:ext cx="640080" cy="365125"/>
          </a:xfrm>
          <a:prstGeom prst="rect">
            <a:avLst/>
          </a:prstGeom>
        </p:spPr>
        <p:txBody>
          <a:bodyPr vert="horz" lIns="91440" tIns="45720" rIns="91440" bIns="45720" rtlCol="0" anchor="ctr"/>
          <a:lstStyle>
            <a:lvl1pPr algn="ctr">
              <a:defRPr sz="1400" b="1">
                <a:solidFill>
                  <a:srgbClr val="FFFFFF"/>
                </a:solidFill>
                <a:latin typeface="+mj-lt"/>
              </a:defRPr>
            </a:lvl1pPr>
          </a:lstStyle>
          <a:p>
            <a:fld id="{D299897A-4B4F-453E-9E24-3DCDE1546B98}" type="slidenum">
              <a:rPr lang="en-IN" smtClean="0"/>
              <a:t>‹#›</a:t>
            </a:fld>
            <a:endParaRPr lang="en-IN"/>
          </a:p>
        </p:txBody>
      </p:sp>
    </p:spTree>
    <p:extLst>
      <p:ext uri="{BB962C8B-B14F-4D97-AF65-F5344CB8AC3E}">
        <p14:creationId xmlns:p14="http://schemas.microsoft.com/office/powerpoint/2010/main" val="2351691773"/>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914400" rtl="0" eaLnBrk="1" latinLnBrk="0" hangingPunct="1">
        <a:lnSpc>
          <a:spcPct val="90000"/>
        </a:lnSpc>
        <a:spcBef>
          <a:spcPct val="0"/>
        </a:spcBef>
        <a:buNone/>
        <a:defRPr sz="4800" b="1" kern="1200" cap="none" baseline="0">
          <a:blipFill>
            <a:blip r:embed="rId15">
              <a:extLst>
                <a:ext uri="{28A0092B-C50C-407E-A947-70E740481C1C}">
                  <a14:useLocalDpi xmlns:a14="http://schemas.microsoft.com/office/drawing/2010/main" val="0"/>
                </a:ext>
              </a:extLst>
            </a:blip>
            <a:tile tx="6350" ty="-127000" sx="65000" sy="64000" flip="none" algn="tl"/>
          </a:blipFill>
          <a:latin typeface="+mj-lt"/>
          <a:ea typeface="+mj-ea"/>
          <a:cs typeface="+mj-cs"/>
        </a:defRPr>
      </a:lvl1pPr>
    </p:titleStyle>
    <p:bodyStyle>
      <a:lvl1pPr marL="182880" indent="-182880" algn="l" defTabSz="914400" rtl="0" eaLnBrk="1" latinLnBrk="0" hangingPunct="1">
        <a:lnSpc>
          <a:spcPct val="90000"/>
        </a:lnSpc>
        <a:spcBef>
          <a:spcPts val="1200"/>
        </a:spcBef>
        <a:buClr>
          <a:schemeClr val="accent2"/>
        </a:buClr>
        <a:buSzPct val="85000"/>
        <a:buFont typeface="Wingdings" pitchFamily="2" charset="2"/>
        <a:buChar char="§"/>
        <a:defRPr sz="2000" kern="1200">
          <a:solidFill>
            <a:schemeClr val="tx1"/>
          </a:solidFill>
          <a:latin typeface="+mn-lt"/>
          <a:ea typeface="+mn-ea"/>
          <a:cs typeface="+mn-cs"/>
        </a:defRPr>
      </a:lvl1pPr>
      <a:lvl2pPr marL="457200" indent="-182880" algn="l" defTabSz="914400" rtl="0" eaLnBrk="1" latinLnBrk="0" hangingPunct="1">
        <a:lnSpc>
          <a:spcPct val="90000"/>
        </a:lnSpc>
        <a:spcBef>
          <a:spcPts val="400"/>
        </a:spcBef>
        <a:spcAft>
          <a:spcPts val="200"/>
        </a:spcAft>
        <a:buClr>
          <a:schemeClr val="accent2"/>
        </a:buClr>
        <a:buSzPct val="85000"/>
        <a:buFont typeface="Wingdings" pitchFamily="2" charset="2"/>
        <a:buChar char="§"/>
        <a:defRPr sz="1800" kern="1200">
          <a:solidFill>
            <a:schemeClr val="tx1"/>
          </a:solidFill>
          <a:latin typeface="+mn-lt"/>
          <a:ea typeface="+mn-ea"/>
          <a:cs typeface="+mn-cs"/>
        </a:defRPr>
      </a:lvl2pPr>
      <a:lvl3pPr marL="731520" indent="-182880" algn="l" defTabSz="914400" rtl="0" eaLnBrk="1" latinLnBrk="0" hangingPunct="1">
        <a:lnSpc>
          <a:spcPct val="90000"/>
        </a:lnSpc>
        <a:spcBef>
          <a:spcPts val="400"/>
        </a:spcBef>
        <a:spcAft>
          <a:spcPts val="200"/>
        </a:spcAft>
        <a:buClr>
          <a:schemeClr val="accent2"/>
        </a:buClr>
        <a:buSzPct val="85000"/>
        <a:buFont typeface="Wingdings" pitchFamily="2" charset="2"/>
        <a:buChar char="§"/>
        <a:defRPr sz="1600" kern="1200">
          <a:solidFill>
            <a:schemeClr val="tx1"/>
          </a:solidFill>
          <a:latin typeface="+mn-lt"/>
          <a:ea typeface="+mn-ea"/>
          <a:cs typeface="+mn-cs"/>
        </a:defRPr>
      </a:lvl3pPr>
      <a:lvl4pPr marL="1005840" indent="-182880" algn="l" defTabSz="914400" rtl="0" eaLnBrk="1" latinLnBrk="0" hangingPunct="1">
        <a:lnSpc>
          <a:spcPct val="90000"/>
        </a:lnSpc>
        <a:spcBef>
          <a:spcPts val="400"/>
        </a:spcBef>
        <a:spcAft>
          <a:spcPts val="200"/>
        </a:spcAft>
        <a:buClr>
          <a:schemeClr val="accent2"/>
        </a:buClr>
        <a:buSzPct val="85000"/>
        <a:buFont typeface="Wingdings" pitchFamily="2" charset="2"/>
        <a:buChar char="§"/>
        <a:defRPr sz="1600" kern="1200">
          <a:solidFill>
            <a:schemeClr val="tx1"/>
          </a:solidFill>
          <a:latin typeface="+mn-lt"/>
          <a:ea typeface="+mn-ea"/>
          <a:cs typeface="+mn-cs"/>
        </a:defRPr>
      </a:lvl4pPr>
      <a:lvl5pPr marL="1280160" indent="-182880" algn="l" defTabSz="914400" rtl="0" eaLnBrk="1" latinLnBrk="0" hangingPunct="1">
        <a:lnSpc>
          <a:spcPct val="90000"/>
        </a:lnSpc>
        <a:spcBef>
          <a:spcPts val="400"/>
        </a:spcBef>
        <a:spcAft>
          <a:spcPts val="200"/>
        </a:spcAft>
        <a:buClr>
          <a:schemeClr val="accent2"/>
        </a:buClr>
        <a:buSzPct val="85000"/>
        <a:buFont typeface="Wingdings" pitchFamily="2" charset="2"/>
        <a:buChar char="§"/>
        <a:defRPr sz="1600" kern="1200">
          <a:solidFill>
            <a:schemeClr val="tx1"/>
          </a:solidFill>
          <a:latin typeface="+mn-lt"/>
          <a:ea typeface="+mn-ea"/>
          <a:cs typeface="+mn-cs"/>
        </a:defRPr>
      </a:lvl5pPr>
      <a:lvl6pPr marL="1600000" indent="-228600" algn="l" defTabSz="914400" rtl="0" eaLnBrk="1" latinLnBrk="0" hangingPunct="1">
        <a:lnSpc>
          <a:spcPct val="90000"/>
        </a:lnSpc>
        <a:spcBef>
          <a:spcPts val="400"/>
        </a:spcBef>
        <a:spcAft>
          <a:spcPts val="200"/>
        </a:spcAft>
        <a:buClr>
          <a:schemeClr val="accent2"/>
        </a:buClr>
        <a:buSzPct val="85000"/>
        <a:buFont typeface="Wingdings" pitchFamily="2" charset="2"/>
        <a:buChar char="§"/>
        <a:defRPr sz="1600" kern="1200">
          <a:solidFill>
            <a:schemeClr val="tx1"/>
          </a:solidFill>
          <a:latin typeface="+mn-lt"/>
          <a:ea typeface="+mn-ea"/>
          <a:cs typeface="+mn-cs"/>
        </a:defRPr>
      </a:lvl6pPr>
      <a:lvl7pPr marL="1900000" indent="-228600" algn="l" defTabSz="914400" rtl="0" eaLnBrk="1" latinLnBrk="0" hangingPunct="1">
        <a:lnSpc>
          <a:spcPct val="90000"/>
        </a:lnSpc>
        <a:spcBef>
          <a:spcPts val="400"/>
        </a:spcBef>
        <a:spcAft>
          <a:spcPts val="200"/>
        </a:spcAft>
        <a:buClr>
          <a:schemeClr val="accent2"/>
        </a:buClr>
        <a:buSzPct val="85000"/>
        <a:buFont typeface="Wingdings" pitchFamily="2" charset="2"/>
        <a:buChar char="§"/>
        <a:defRPr sz="1600" kern="1200">
          <a:solidFill>
            <a:schemeClr val="tx1"/>
          </a:solidFill>
          <a:latin typeface="+mn-lt"/>
          <a:ea typeface="+mn-ea"/>
          <a:cs typeface="+mn-cs"/>
        </a:defRPr>
      </a:lvl7pPr>
      <a:lvl8pPr marL="2200000" indent="-228600" algn="l" defTabSz="914400" rtl="0" eaLnBrk="1" latinLnBrk="0" hangingPunct="1">
        <a:lnSpc>
          <a:spcPct val="90000"/>
        </a:lnSpc>
        <a:spcBef>
          <a:spcPts val="400"/>
        </a:spcBef>
        <a:spcAft>
          <a:spcPts val="200"/>
        </a:spcAft>
        <a:buClr>
          <a:schemeClr val="accent2"/>
        </a:buClr>
        <a:buSzPct val="85000"/>
        <a:buFont typeface="Wingdings" pitchFamily="2" charset="2"/>
        <a:buChar char="§"/>
        <a:defRPr sz="1600" kern="1200">
          <a:solidFill>
            <a:schemeClr val="tx1"/>
          </a:solidFill>
          <a:latin typeface="+mn-lt"/>
          <a:ea typeface="+mn-ea"/>
          <a:cs typeface="+mn-cs"/>
        </a:defRPr>
      </a:lvl8pPr>
      <a:lvl9pPr marL="2500000" indent="-228600" algn="l" defTabSz="914400" rtl="0" eaLnBrk="1" latinLnBrk="0" hangingPunct="1">
        <a:lnSpc>
          <a:spcPct val="90000"/>
        </a:lnSpc>
        <a:spcBef>
          <a:spcPts val="400"/>
        </a:spcBef>
        <a:spcAft>
          <a:spcPts val="200"/>
        </a:spcAft>
        <a:buClr>
          <a:schemeClr val="accent2"/>
        </a:buClr>
        <a:buSzPct val="85000"/>
        <a:buFont typeface="Wingdings" pitchFamily="2" charset="2"/>
        <a:buChar char="§"/>
        <a:defRPr sz="16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jpeg"/><Relationship Id="rId1" Type="http://schemas.openxmlformats.org/officeDocument/2006/relationships/slideLayout" Target="../slideLayouts/slideLayout1.xml"/><Relationship Id="rId6" Type="http://schemas.openxmlformats.org/officeDocument/2006/relationships/hyperlink" Target="https://www.pngall.com/digital-marketing-png/" TargetMode="External"/><Relationship Id="rId5" Type="http://schemas.openxmlformats.org/officeDocument/2006/relationships/image" Target="../media/image8.png"/><Relationship Id="rId4" Type="http://schemas.openxmlformats.org/officeDocument/2006/relationships/image" Target="../media/image7.svg"/></Relationships>
</file>

<file path=ppt/slides/_rels/slide2.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image" Target="../media/image5.jpeg"/><Relationship Id="rId1" Type="http://schemas.openxmlformats.org/officeDocument/2006/relationships/slideLayout" Target="../slideLayouts/slideLayout2.xml"/><Relationship Id="rId4" Type="http://schemas.openxmlformats.org/officeDocument/2006/relationships/hyperlink" Target="https://pxhere.com/en/photo/1444007" TargetMode="External"/></Relationships>
</file>

<file path=ppt/slides/_rels/slide3.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5.jpeg"/><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5.jpeg"/><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5.jpg"/><Relationship Id="rId2" Type="http://schemas.openxmlformats.org/officeDocument/2006/relationships/image" Target="../media/image5.jpeg"/><Relationship Id="rId1" Type="http://schemas.openxmlformats.org/officeDocument/2006/relationships/slideLayout" Target="../slideLayouts/slideLayout2.xml"/><Relationship Id="rId4" Type="http://schemas.openxmlformats.org/officeDocument/2006/relationships/hyperlink" Target="https://technofaq.org/posts/2018/07/writing-tips-to-attract-more-clients-to-your-elearning-platform/" TargetMode="External"/></Relationships>
</file>

<file path=ppt/slides/_rels/slide9.xml.rels><?xml version="1.0" encoding="UTF-8" standalone="yes"?>
<Relationships xmlns="http://schemas.openxmlformats.org/package/2006/relationships"><Relationship Id="rId3" Type="http://schemas.openxmlformats.org/officeDocument/2006/relationships/image" Target="../media/image16.jpg"/><Relationship Id="rId2" Type="http://schemas.openxmlformats.org/officeDocument/2006/relationships/image" Target="../media/image5.jpeg"/><Relationship Id="rId1" Type="http://schemas.openxmlformats.org/officeDocument/2006/relationships/slideLayout" Target="../slideLayouts/slideLayout2.xml"/><Relationship Id="rId4" Type="http://schemas.openxmlformats.org/officeDocument/2006/relationships/hyperlink" Target="https://www.pxfuel.com/en/free-photo-ojnju" TargetMode="External"/></Relationships>
</file>

<file path=ppt/slides/_rels/slide10.xml.rels><?xml version="1.0" encoding="UTF-8" standalone="yes"?>
<Relationships xmlns="http://schemas.openxmlformats.org/package/2006/relationships"><Relationship Id="rId3" Type="http://schemas.openxmlformats.org/officeDocument/2006/relationships/image" Target="../media/image17.jpg"/><Relationship Id="rId2" Type="http://schemas.openxmlformats.org/officeDocument/2006/relationships/image" Target="../media/image5.jpeg"/><Relationship Id="rId1" Type="http://schemas.openxmlformats.org/officeDocument/2006/relationships/slideLayout" Target="../slideLayouts/slideLayout2.xml"/><Relationship Id="rId4" Type="http://schemas.openxmlformats.org/officeDocument/2006/relationships/hyperlink" Target="https://www.the-generous-husband.com/2020/01/07/suggestions-feedback-and-push-back/" TargetMode="Externa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a:blip r:embed="rId2"/>
          <a:tile tx="0" ty="0" sx="100000" sy="100000" flip="none" algn="tl"/>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EB8005-1A5F-F701-7CEB-C802706A36F0}"/>
              </a:ext>
            </a:extLst>
          </p:cNvPr>
          <p:cNvSpPr>
            <a:spLocks noGrp="1"/>
          </p:cNvSpPr>
          <p:nvPr>
            <p:ph type="ctrTitle"/>
          </p:nvPr>
        </p:nvSpPr>
        <p:spPr>
          <a:xfrm>
            <a:off x="1702050" y="2181884"/>
            <a:ext cx="8965949" cy="1247115"/>
          </a:xfrm>
        </p:spPr>
        <p:txBody>
          <a:bodyPr/>
          <a:lstStyle/>
          <a:p>
            <a:r>
              <a:rPr lang="en-US" dirty="0"/>
              <a:t>Channel analysis </a:t>
            </a:r>
            <a:endParaRPr lang="en-IN" dirty="0"/>
          </a:p>
        </p:txBody>
      </p:sp>
      <p:sp>
        <p:nvSpPr>
          <p:cNvPr id="3" name="Subtitle 2">
            <a:extLst>
              <a:ext uri="{FF2B5EF4-FFF2-40B4-BE49-F238E27FC236}">
                <a16:creationId xmlns:a16="http://schemas.microsoft.com/office/drawing/2014/main" id="{61F945A6-F802-52D2-CA21-44A5964AB688}"/>
              </a:ext>
            </a:extLst>
          </p:cNvPr>
          <p:cNvSpPr>
            <a:spLocks noGrp="1"/>
          </p:cNvSpPr>
          <p:nvPr>
            <p:ph type="subTitle" idx="1"/>
          </p:nvPr>
        </p:nvSpPr>
        <p:spPr>
          <a:xfrm>
            <a:off x="1590392" y="4572000"/>
            <a:ext cx="8181314" cy="1321805"/>
          </a:xfrm>
        </p:spPr>
        <p:txBody>
          <a:bodyPr>
            <a:normAutofit/>
          </a:bodyPr>
          <a:lstStyle/>
          <a:p>
            <a:pPr algn="ctr"/>
            <a:r>
              <a:rPr lang="en-US" sz="2800" dirty="0"/>
              <a:t>Lets find out what channel gives you the best value for money!</a:t>
            </a:r>
            <a:endParaRPr lang="en-IN" sz="2800" dirty="0"/>
          </a:p>
        </p:txBody>
      </p:sp>
      <p:pic>
        <p:nvPicPr>
          <p:cNvPr id="5" name="Graphic 4" descr="Dollar with solid fill">
            <a:extLst>
              <a:ext uri="{FF2B5EF4-FFF2-40B4-BE49-F238E27FC236}">
                <a16:creationId xmlns:a16="http://schemas.microsoft.com/office/drawing/2014/main" id="{24C349DB-59AB-EF89-58EC-3D33010EB721}"/>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9771706" y="4233248"/>
            <a:ext cx="829902" cy="829902"/>
          </a:xfrm>
          <a:prstGeom prst="rect">
            <a:avLst/>
          </a:prstGeom>
        </p:spPr>
      </p:pic>
      <p:pic>
        <p:nvPicPr>
          <p:cNvPr id="7" name="Picture 6">
            <a:extLst>
              <a:ext uri="{FF2B5EF4-FFF2-40B4-BE49-F238E27FC236}">
                <a16:creationId xmlns:a16="http://schemas.microsoft.com/office/drawing/2014/main" id="{CFB0476C-B0BC-70EF-EAC2-026E91A08410}"/>
              </a:ext>
            </a:extLst>
          </p:cNvPr>
          <p:cNvPicPr>
            <a:picLocks noChangeAspect="1"/>
          </p:cNvPicPr>
          <p:nvPr/>
        </p:nvPicPr>
        <p:blipFill>
          <a:blip r:embed="rId5">
            <a:extLst>
              <a:ext uri="{28A0092B-C50C-407E-A947-70E740481C1C}">
                <a14:useLocalDpi xmlns:a14="http://schemas.microsoft.com/office/drawing/2010/main" val="0"/>
              </a:ext>
              <a:ext uri="{837473B0-CC2E-450A-ABE3-18F120FF3D39}">
                <a1611:picAttrSrcUrl xmlns:a1611="http://schemas.microsoft.com/office/drawing/2016/11/main" r:id="rId6"/>
              </a:ext>
            </a:extLst>
          </a:blip>
          <a:stretch>
            <a:fillRect/>
          </a:stretch>
        </p:blipFill>
        <p:spPr>
          <a:xfrm>
            <a:off x="4092543" y="-146744"/>
            <a:ext cx="3177011" cy="2371253"/>
          </a:xfrm>
          <a:prstGeom prst="rect">
            <a:avLst/>
          </a:prstGeom>
        </p:spPr>
      </p:pic>
    </p:spTree>
    <p:extLst>
      <p:ext uri="{BB962C8B-B14F-4D97-AF65-F5344CB8AC3E}">
        <p14:creationId xmlns:p14="http://schemas.microsoft.com/office/powerpoint/2010/main" val="393595555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tile tx="0" ty="0" sx="100000" sy="100000" flip="none" algn="tl"/>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326624-9A91-D101-5D8E-F0950BDA177E}"/>
              </a:ext>
            </a:extLst>
          </p:cNvPr>
          <p:cNvSpPr>
            <a:spLocks noGrp="1"/>
          </p:cNvSpPr>
          <p:nvPr>
            <p:ph type="title"/>
          </p:nvPr>
        </p:nvSpPr>
        <p:spPr>
          <a:xfrm>
            <a:off x="823865" y="153909"/>
            <a:ext cx="10304383" cy="896293"/>
          </a:xfrm>
        </p:spPr>
        <p:txBody>
          <a:bodyPr>
            <a:normAutofit/>
          </a:bodyPr>
          <a:lstStyle/>
          <a:p>
            <a:pPr algn="ctr"/>
            <a:r>
              <a:rPr lang="en-US" dirty="0"/>
              <a:t>Report overview</a:t>
            </a:r>
            <a:endParaRPr lang="en-IN" dirty="0"/>
          </a:p>
        </p:txBody>
      </p:sp>
      <p:sp>
        <p:nvSpPr>
          <p:cNvPr id="3" name="Content Placeholder 2">
            <a:extLst>
              <a:ext uri="{FF2B5EF4-FFF2-40B4-BE49-F238E27FC236}">
                <a16:creationId xmlns:a16="http://schemas.microsoft.com/office/drawing/2014/main" id="{3EDE3C89-11CA-46D7-3878-EDA4BBF905BA}"/>
              </a:ext>
            </a:extLst>
          </p:cNvPr>
          <p:cNvSpPr>
            <a:spLocks noGrp="1"/>
          </p:cNvSpPr>
          <p:nvPr>
            <p:ph idx="1"/>
          </p:nvPr>
        </p:nvSpPr>
        <p:spPr>
          <a:xfrm>
            <a:off x="443620" y="1222218"/>
            <a:ext cx="11208189" cy="3621387"/>
          </a:xfrm>
        </p:spPr>
        <p:txBody>
          <a:bodyPr>
            <a:normAutofit/>
          </a:bodyPr>
          <a:lstStyle/>
          <a:p>
            <a:pPr marL="0" indent="0">
              <a:buNone/>
            </a:pPr>
            <a:r>
              <a:rPr lang="en-US" dirty="0"/>
              <a:t>The objective of this project report is to provide stakeholders with clear insights about which advertising channel gives the best return on investment (ROI). We collected and analyzed traffic source data (provided by stakeholder) to understand performance across various channels. By using Python for the analysis and Excel for basic data cleaning, we gathered key metrics that highlights the effectiveness of each channel/medium. Various aspects like conversion rates, revenue generation, cost of acquisition etc. were analyzed.</a:t>
            </a:r>
          </a:p>
          <a:p>
            <a:pPr marL="0" indent="0">
              <a:buNone/>
            </a:pPr>
            <a:r>
              <a:rPr lang="en-US" dirty="0"/>
              <a:t>This report’s primary goal is to identify the best-performing channels, allowing the optimize ad campaign to get more returns out of little investments. Ultimately, we want to help our client optimize their advertising strategy, improve eCommerce conversion rates, and ensure that their ad spend translates into meaningful revenue. At the end of this report, you will be able to identify which channel got the highest conversion rates, most revenue etc. </a:t>
            </a:r>
          </a:p>
        </p:txBody>
      </p:sp>
      <p:pic>
        <p:nvPicPr>
          <p:cNvPr id="5" name="Picture 4">
            <a:extLst>
              <a:ext uri="{FF2B5EF4-FFF2-40B4-BE49-F238E27FC236}">
                <a16:creationId xmlns:a16="http://schemas.microsoft.com/office/drawing/2014/main" id="{6F359146-69E8-98E4-21BD-35B2B060AA0D}"/>
              </a:ext>
            </a:extLst>
          </p:cNvPr>
          <p:cNvPicPr>
            <a:picLocks noChangeAspect="1"/>
          </p:cNvPicPr>
          <p:nvPr/>
        </p:nvPicPr>
        <p:blipFill>
          <a:blip r:embed="rId3">
            <a:extLst>
              <a:ext uri="{28A0092B-C50C-407E-A947-70E740481C1C}">
                <a14:useLocalDpi xmlns:a14="http://schemas.microsoft.com/office/drawing/2010/main" val="0"/>
              </a:ext>
              <a:ext uri="{837473B0-CC2E-450A-ABE3-18F120FF3D39}">
                <a1611:picAttrSrcUrl xmlns:a1611="http://schemas.microsoft.com/office/drawing/2016/11/main" r:id="rId4"/>
              </a:ext>
            </a:extLst>
          </a:blip>
          <a:stretch>
            <a:fillRect/>
          </a:stretch>
        </p:blipFill>
        <p:spPr>
          <a:xfrm>
            <a:off x="5319667" y="4808145"/>
            <a:ext cx="1895946" cy="1895946"/>
          </a:xfrm>
          <a:prstGeom prst="rect">
            <a:avLst/>
          </a:prstGeom>
        </p:spPr>
      </p:pic>
    </p:spTree>
    <p:extLst>
      <p:ext uri="{BB962C8B-B14F-4D97-AF65-F5344CB8AC3E}">
        <p14:creationId xmlns:p14="http://schemas.microsoft.com/office/powerpoint/2010/main" val="117302389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99000"/>
            <a:lum/>
          </a:blip>
          <a:srcRect/>
          <a:tile tx="0" ty="0" sx="100000" sy="100000" flip="none" algn="tl"/>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E1570A-BF03-4B45-55EB-8EDF1341C9AF}"/>
              </a:ext>
            </a:extLst>
          </p:cNvPr>
          <p:cNvSpPr>
            <a:spLocks noGrp="1"/>
          </p:cNvSpPr>
          <p:nvPr>
            <p:ph type="title"/>
          </p:nvPr>
        </p:nvSpPr>
        <p:spPr>
          <a:xfrm>
            <a:off x="1122630" y="144855"/>
            <a:ext cx="10005618" cy="1032095"/>
          </a:xfrm>
        </p:spPr>
        <p:txBody>
          <a:bodyPr>
            <a:normAutofit/>
          </a:bodyPr>
          <a:lstStyle/>
          <a:p>
            <a:pPr algn="ctr"/>
            <a:r>
              <a:rPr lang="en-US" dirty="0"/>
              <a:t>A brief about the data </a:t>
            </a:r>
            <a:endParaRPr lang="en-IN" dirty="0"/>
          </a:p>
        </p:txBody>
      </p:sp>
      <p:sp>
        <p:nvSpPr>
          <p:cNvPr id="3" name="Content Placeholder 2">
            <a:extLst>
              <a:ext uri="{FF2B5EF4-FFF2-40B4-BE49-F238E27FC236}">
                <a16:creationId xmlns:a16="http://schemas.microsoft.com/office/drawing/2014/main" id="{762E86D2-AC31-1620-954E-4A9BF59678A1}"/>
              </a:ext>
            </a:extLst>
          </p:cNvPr>
          <p:cNvSpPr>
            <a:spLocks noGrp="1"/>
          </p:cNvSpPr>
          <p:nvPr>
            <p:ph idx="1"/>
          </p:nvPr>
        </p:nvSpPr>
        <p:spPr>
          <a:xfrm>
            <a:off x="425513" y="1068308"/>
            <a:ext cx="11416420" cy="5395865"/>
          </a:xfrm>
        </p:spPr>
        <p:txBody>
          <a:bodyPr>
            <a:normAutofit fontScale="62500" lnSpcReduction="20000"/>
          </a:bodyPr>
          <a:lstStyle/>
          <a:p>
            <a:pPr marL="0" indent="0">
              <a:buNone/>
            </a:pPr>
            <a:r>
              <a:rPr lang="en-US" sz="2900" dirty="0"/>
              <a:t>The dataset comprises traffic source data, featuring 50 distinct channels. It includes 10 key metrics that provide insights into user behavior, session performance, and overall revenue generation.</a:t>
            </a:r>
          </a:p>
          <a:p>
            <a:pPr marL="0" indent="0">
              <a:buNone/>
            </a:pPr>
            <a:r>
              <a:rPr lang="en-US" sz="2900" dirty="0"/>
              <a:t>The key columns are as follows:</a:t>
            </a:r>
          </a:p>
          <a:p>
            <a:pPr>
              <a:buFont typeface="+mj-lt"/>
              <a:buAutoNum type="arabicPeriod"/>
            </a:pPr>
            <a:r>
              <a:rPr lang="en-US" sz="2900" b="1" dirty="0"/>
              <a:t>Source/Medium:</a:t>
            </a:r>
            <a:r>
              <a:rPr lang="en-US" sz="2900" dirty="0"/>
              <a:t> Represents the traffic source, showing where the users originate from.</a:t>
            </a:r>
          </a:p>
          <a:p>
            <a:pPr>
              <a:buFont typeface="+mj-lt"/>
              <a:buAutoNum type="arabicPeriod"/>
            </a:pPr>
            <a:r>
              <a:rPr lang="en-US" sz="2900" b="1" dirty="0"/>
              <a:t>Users:</a:t>
            </a:r>
            <a:r>
              <a:rPr lang="en-US" sz="2900" dirty="0"/>
              <a:t> The total number of users from each source.</a:t>
            </a:r>
          </a:p>
          <a:p>
            <a:pPr>
              <a:buFont typeface="+mj-lt"/>
              <a:buAutoNum type="arabicPeriod"/>
            </a:pPr>
            <a:r>
              <a:rPr lang="en-US" sz="2900" b="1" dirty="0"/>
              <a:t>New Users:</a:t>
            </a:r>
            <a:r>
              <a:rPr lang="en-US" sz="2900" dirty="0"/>
              <a:t> First-time visitors to the site.</a:t>
            </a:r>
          </a:p>
          <a:p>
            <a:pPr>
              <a:buFont typeface="+mj-lt"/>
              <a:buAutoNum type="arabicPeriod"/>
            </a:pPr>
            <a:r>
              <a:rPr lang="en-US" sz="2900" b="1" dirty="0"/>
              <a:t>Sessions:</a:t>
            </a:r>
            <a:r>
              <a:rPr lang="en-US" sz="2900" dirty="0"/>
              <a:t> The total number of sessions initiated from the traffic source.</a:t>
            </a:r>
          </a:p>
          <a:p>
            <a:pPr>
              <a:buFont typeface="+mj-lt"/>
              <a:buAutoNum type="arabicPeriod"/>
            </a:pPr>
            <a:r>
              <a:rPr lang="en-US" sz="2900" b="1" dirty="0"/>
              <a:t>Bounce Rate:</a:t>
            </a:r>
            <a:r>
              <a:rPr lang="en-US" sz="2900" dirty="0"/>
              <a:t> Percentage of single-page sessions (where users leave without interacting further).</a:t>
            </a:r>
          </a:p>
          <a:p>
            <a:pPr>
              <a:buFont typeface="+mj-lt"/>
              <a:buAutoNum type="arabicPeriod"/>
            </a:pPr>
            <a:r>
              <a:rPr lang="en-US" sz="2900" b="1" dirty="0"/>
              <a:t>Pages / Session:</a:t>
            </a:r>
            <a:r>
              <a:rPr lang="en-US" sz="2900" dirty="0"/>
              <a:t> Average number of pages viewed per session.</a:t>
            </a:r>
          </a:p>
          <a:p>
            <a:pPr>
              <a:buFont typeface="+mj-lt"/>
              <a:buAutoNum type="arabicPeriod"/>
            </a:pPr>
            <a:r>
              <a:rPr lang="en-US" sz="2900" b="1" dirty="0"/>
              <a:t>Avg. Session Duration:</a:t>
            </a:r>
            <a:r>
              <a:rPr lang="en-US" sz="2900" dirty="0"/>
              <a:t> The average time spent per session (in seconds).</a:t>
            </a:r>
          </a:p>
          <a:p>
            <a:pPr>
              <a:buFont typeface="+mj-lt"/>
              <a:buAutoNum type="arabicPeriod"/>
            </a:pPr>
            <a:r>
              <a:rPr lang="en-US" sz="2900" b="1" dirty="0"/>
              <a:t>Ecommerce Conversion Rate:</a:t>
            </a:r>
            <a:r>
              <a:rPr lang="en-US" sz="2900" dirty="0"/>
              <a:t> Percentage of sessions that resulted in a transaction.</a:t>
            </a:r>
          </a:p>
          <a:p>
            <a:pPr>
              <a:buFont typeface="+mj-lt"/>
              <a:buAutoNum type="arabicPeriod"/>
            </a:pPr>
            <a:r>
              <a:rPr lang="en-US" sz="2900" b="1" dirty="0"/>
              <a:t>Transactions:</a:t>
            </a:r>
            <a:r>
              <a:rPr lang="en-US" sz="2900" dirty="0"/>
              <a:t> Total number of transactions completed.</a:t>
            </a:r>
          </a:p>
          <a:p>
            <a:pPr>
              <a:buFont typeface="+mj-lt"/>
              <a:buAutoNum type="arabicPeriod"/>
            </a:pPr>
            <a:r>
              <a:rPr lang="en-US" sz="2900" b="1" dirty="0"/>
              <a:t>Revenue:</a:t>
            </a:r>
            <a:r>
              <a:rPr lang="en-US" sz="2900" dirty="0"/>
              <a:t> Total revenue generated by each source.</a:t>
            </a:r>
          </a:p>
          <a:p>
            <a:pPr marL="0" indent="0">
              <a:buNone/>
            </a:pPr>
            <a:r>
              <a:rPr lang="en-US" sz="2900" i="1" dirty="0"/>
              <a:t>Additional metric columns like new user percentage, converted users, revenue gained per customer, transaction volume, sessions per user and revenue gained per transaction were created for better analysis.</a:t>
            </a:r>
          </a:p>
          <a:p>
            <a:pPr marL="0" indent="0">
              <a:buNone/>
            </a:pPr>
            <a:r>
              <a:rPr lang="en-US" sz="2900" i="1" dirty="0"/>
              <a:t>Note: The currency is assumed to be in USD.</a:t>
            </a:r>
          </a:p>
          <a:p>
            <a:pPr marL="0" indent="0">
              <a:buNone/>
            </a:pPr>
            <a:endParaRPr lang="en-US" sz="2900" dirty="0"/>
          </a:p>
          <a:p>
            <a:pPr marL="0" indent="0">
              <a:buNone/>
            </a:pPr>
            <a:endParaRPr lang="en-US" dirty="0"/>
          </a:p>
        </p:txBody>
      </p:sp>
    </p:spTree>
    <p:extLst>
      <p:ext uri="{BB962C8B-B14F-4D97-AF65-F5344CB8AC3E}">
        <p14:creationId xmlns:p14="http://schemas.microsoft.com/office/powerpoint/2010/main" val="13975223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99000"/>
            <a:lum/>
          </a:blip>
          <a:srcRect/>
          <a:tile tx="0" ty="0" sx="100000" sy="100000" flip="y" algn="tl"/>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A9F1BC-E8D2-C42B-1F16-8AFF060B4EB4}"/>
              </a:ext>
            </a:extLst>
          </p:cNvPr>
          <p:cNvSpPr>
            <a:spLocks noGrp="1"/>
          </p:cNvSpPr>
          <p:nvPr>
            <p:ph type="title"/>
          </p:nvPr>
        </p:nvSpPr>
        <p:spPr>
          <a:xfrm>
            <a:off x="1457608" y="1"/>
            <a:ext cx="9082164" cy="1077362"/>
          </a:xfrm>
        </p:spPr>
        <p:txBody>
          <a:bodyPr>
            <a:normAutofit/>
          </a:bodyPr>
          <a:lstStyle/>
          <a:p>
            <a:pPr algn="ctr"/>
            <a:r>
              <a:rPr lang="en-US" dirty="0"/>
              <a:t>Key metrics</a:t>
            </a:r>
            <a:endParaRPr lang="en-IN" dirty="0"/>
          </a:p>
        </p:txBody>
      </p:sp>
      <p:sp>
        <p:nvSpPr>
          <p:cNvPr id="3" name="Content Placeholder 2">
            <a:extLst>
              <a:ext uri="{FF2B5EF4-FFF2-40B4-BE49-F238E27FC236}">
                <a16:creationId xmlns:a16="http://schemas.microsoft.com/office/drawing/2014/main" id="{D8F12432-C8A2-5107-047E-3DF23048F59A}"/>
              </a:ext>
            </a:extLst>
          </p:cNvPr>
          <p:cNvSpPr>
            <a:spLocks noGrp="1"/>
          </p:cNvSpPr>
          <p:nvPr>
            <p:ph idx="1"/>
          </p:nvPr>
        </p:nvSpPr>
        <p:spPr>
          <a:xfrm>
            <a:off x="398353" y="959667"/>
            <a:ext cx="10729896" cy="5212533"/>
          </a:xfrm>
        </p:spPr>
        <p:txBody>
          <a:bodyPr>
            <a:normAutofit/>
          </a:bodyPr>
          <a:lstStyle/>
          <a:p>
            <a:pPr marL="0" indent="0">
              <a:buNone/>
            </a:pPr>
            <a:r>
              <a:rPr lang="en-US" sz="1600" dirty="0"/>
              <a:t>Let us understand in brief about the key metrics that were created from existing variables. </a:t>
            </a:r>
          </a:p>
          <a:p>
            <a:pPr marL="457200" indent="-457200">
              <a:buAutoNum type="arabicPeriod"/>
            </a:pPr>
            <a:r>
              <a:rPr lang="en-US" sz="1600" b="1" dirty="0"/>
              <a:t>New user percentage: </a:t>
            </a:r>
            <a:r>
              <a:rPr lang="en-US" sz="1600" dirty="0"/>
              <a:t>This metric depicts what percentage of users are new. It is necessary as it shows the channel’s ability to get engagement which is critical for scaling and market growth.</a:t>
            </a:r>
          </a:p>
          <a:p>
            <a:pPr marL="457200" indent="-457200">
              <a:buAutoNum type="arabicPeriod"/>
            </a:pPr>
            <a:r>
              <a:rPr lang="en-US" sz="1600" b="1" dirty="0"/>
              <a:t>Converted users: </a:t>
            </a:r>
            <a:r>
              <a:rPr lang="en-US" sz="1600" dirty="0"/>
              <a:t>This metric depicts how many users are converted to customers. This lets us know how many users make purchases and lets us know a channel’s marketing effectiveness.</a:t>
            </a:r>
          </a:p>
          <a:p>
            <a:pPr marL="457200" indent="-457200">
              <a:buAutoNum type="arabicPeriod"/>
            </a:pPr>
            <a:r>
              <a:rPr lang="en-US" sz="1600" b="1" dirty="0"/>
              <a:t>Revenue per customer: </a:t>
            </a:r>
            <a:r>
              <a:rPr lang="en-US" sz="1600" dirty="0"/>
              <a:t>This metric lets us know the amount spent by each customer on a channel. This metric will help us classify which channel gets us more high paying clients and ultimately profitability of a channel. </a:t>
            </a:r>
          </a:p>
          <a:p>
            <a:pPr marL="457200" indent="-457200">
              <a:buAutoNum type="arabicPeriod"/>
            </a:pPr>
            <a:r>
              <a:rPr lang="en-US" sz="1600" b="1" dirty="0"/>
              <a:t>Revenue per transaction: </a:t>
            </a:r>
            <a:r>
              <a:rPr lang="en-US" sz="1600" dirty="0"/>
              <a:t>We can understand via this metric the amount spent per transaction on a channel. It is vital for understanding the average value of each sale generated through a particular traffic source. It helps evaluate which channels are driving high-value transactions, allowing for more targeted ad spend allocation.</a:t>
            </a:r>
          </a:p>
          <a:p>
            <a:pPr marL="457200" indent="-457200">
              <a:buAutoNum type="arabicPeriod"/>
            </a:pPr>
            <a:r>
              <a:rPr lang="en-US" sz="1600" b="1" dirty="0"/>
              <a:t>Sessions per user: </a:t>
            </a:r>
            <a:r>
              <a:rPr lang="en-US" sz="1600" dirty="0"/>
              <a:t>This metric shows how many sessions, on average, each user initiates. It helps measure user engagement, indicating which channels bring users that return more frequently. More sessions per user can suggest a more engaged audience.</a:t>
            </a:r>
          </a:p>
          <a:p>
            <a:pPr marL="457200" indent="-457200">
              <a:buAutoNum type="arabicPeriod"/>
            </a:pPr>
            <a:r>
              <a:rPr lang="en-US" sz="1600" b="1" dirty="0"/>
              <a:t>Transaction volume:</a:t>
            </a:r>
            <a:r>
              <a:rPr lang="en-US" sz="1600" dirty="0"/>
              <a:t> This metric calculates the number of transactions generated per session. A higher transaction volume means a channel is not only attracting traffic but is also effective in generating frequent purchases per session. </a:t>
            </a:r>
            <a:endParaRPr lang="en-IN" sz="1600" dirty="0"/>
          </a:p>
        </p:txBody>
      </p:sp>
    </p:spTree>
    <p:extLst>
      <p:ext uri="{BB962C8B-B14F-4D97-AF65-F5344CB8AC3E}">
        <p14:creationId xmlns:p14="http://schemas.microsoft.com/office/powerpoint/2010/main" val="130987043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a:blip r:embed="rId2">
            <a:alphaModFix amt="99000"/>
          </a:blip>
          <a:tile tx="0" ty="0" sx="100000" sy="100000" flip="none" algn="tl"/>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3EAFAE-F4B5-C197-72D6-77C1082A1595}"/>
              </a:ext>
            </a:extLst>
          </p:cNvPr>
          <p:cNvSpPr>
            <a:spLocks noGrp="1"/>
          </p:cNvSpPr>
          <p:nvPr>
            <p:ph type="title"/>
          </p:nvPr>
        </p:nvSpPr>
        <p:spPr>
          <a:xfrm>
            <a:off x="434109" y="484632"/>
            <a:ext cx="11277599" cy="956241"/>
          </a:xfrm>
        </p:spPr>
        <p:txBody>
          <a:bodyPr>
            <a:normAutofit fontScale="90000"/>
          </a:bodyPr>
          <a:lstStyle/>
          <a:p>
            <a:r>
              <a:rPr lang="en-US" dirty="0"/>
              <a:t>Pay-per-click source revenue analysis</a:t>
            </a:r>
            <a:endParaRPr lang="en-IN" dirty="0"/>
          </a:p>
        </p:txBody>
      </p:sp>
      <p:sp>
        <p:nvSpPr>
          <p:cNvPr id="3" name="Content Placeholder 2">
            <a:extLst>
              <a:ext uri="{FF2B5EF4-FFF2-40B4-BE49-F238E27FC236}">
                <a16:creationId xmlns:a16="http://schemas.microsoft.com/office/drawing/2014/main" id="{2149A66C-D6F1-124B-CFC6-5B8FFE4D1D48}"/>
              </a:ext>
            </a:extLst>
          </p:cNvPr>
          <p:cNvSpPr>
            <a:spLocks noGrp="1"/>
          </p:cNvSpPr>
          <p:nvPr>
            <p:ph idx="1"/>
          </p:nvPr>
        </p:nvSpPr>
        <p:spPr>
          <a:xfrm>
            <a:off x="618837" y="1440873"/>
            <a:ext cx="10509412" cy="4731327"/>
          </a:xfrm>
          <a:noFill/>
        </p:spPr>
        <p:txBody>
          <a:bodyPr>
            <a:normAutofit/>
          </a:bodyPr>
          <a:lstStyle/>
          <a:p>
            <a:pPr marL="0" indent="0">
              <a:buNone/>
            </a:pPr>
            <a:r>
              <a:rPr lang="en-US" sz="1600" dirty="0"/>
              <a:t>Question: Which pay-per-click advertising source drove the most revenue?</a:t>
            </a:r>
          </a:p>
          <a:p>
            <a:pPr marL="0" indent="0">
              <a:buNone/>
            </a:pPr>
            <a:r>
              <a:rPr lang="en-US" sz="1600" dirty="0"/>
              <a:t>Answer: Google generated the most revenue followed by Facebook and Bing.  </a:t>
            </a:r>
          </a:p>
        </p:txBody>
      </p:sp>
      <p:pic>
        <p:nvPicPr>
          <p:cNvPr id="5" name="Picture 4">
            <a:extLst>
              <a:ext uri="{FF2B5EF4-FFF2-40B4-BE49-F238E27FC236}">
                <a16:creationId xmlns:a16="http://schemas.microsoft.com/office/drawing/2014/main" id="{DA6911C6-F6FC-F987-BFEE-4B5FF2E04CCA}"/>
              </a:ext>
            </a:extLst>
          </p:cNvPr>
          <p:cNvPicPr>
            <a:picLocks noChangeAspect="1"/>
          </p:cNvPicPr>
          <p:nvPr/>
        </p:nvPicPr>
        <p:blipFill>
          <a:blip r:embed="rId3"/>
          <a:stretch>
            <a:fillRect/>
          </a:stretch>
        </p:blipFill>
        <p:spPr>
          <a:xfrm>
            <a:off x="618837" y="2273178"/>
            <a:ext cx="6963578" cy="4100190"/>
          </a:xfrm>
          <a:prstGeom prst="rect">
            <a:avLst/>
          </a:prstGeom>
        </p:spPr>
      </p:pic>
      <p:pic>
        <p:nvPicPr>
          <p:cNvPr id="7" name="Picture 6">
            <a:extLst>
              <a:ext uri="{FF2B5EF4-FFF2-40B4-BE49-F238E27FC236}">
                <a16:creationId xmlns:a16="http://schemas.microsoft.com/office/drawing/2014/main" id="{F963D01F-A94A-0A73-D9DD-D7EDE05C3D1C}"/>
              </a:ext>
            </a:extLst>
          </p:cNvPr>
          <p:cNvPicPr>
            <a:picLocks noChangeAspect="1"/>
          </p:cNvPicPr>
          <p:nvPr/>
        </p:nvPicPr>
        <p:blipFill>
          <a:blip r:embed="rId4"/>
          <a:stretch>
            <a:fillRect/>
          </a:stretch>
        </p:blipFill>
        <p:spPr>
          <a:xfrm>
            <a:off x="7911743" y="2781444"/>
            <a:ext cx="3401234" cy="3037466"/>
          </a:xfrm>
          <a:prstGeom prst="rect">
            <a:avLst/>
          </a:prstGeom>
        </p:spPr>
      </p:pic>
    </p:spTree>
    <p:extLst>
      <p:ext uri="{BB962C8B-B14F-4D97-AF65-F5344CB8AC3E}">
        <p14:creationId xmlns:p14="http://schemas.microsoft.com/office/powerpoint/2010/main" val="101718304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a:blip r:embed="rId2">
            <a:alphaModFix amt="99000"/>
          </a:blip>
          <a:tile tx="0" ty="0" sx="100000" sy="100000" flip="none" algn="tl"/>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3EAFAE-F4B5-C197-72D6-77C1082A1595}"/>
              </a:ext>
            </a:extLst>
          </p:cNvPr>
          <p:cNvSpPr>
            <a:spLocks noGrp="1"/>
          </p:cNvSpPr>
          <p:nvPr>
            <p:ph type="title"/>
          </p:nvPr>
        </p:nvSpPr>
        <p:spPr/>
        <p:txBody>
          <a:bodyPr/>
          <a:lstStyle/>
          <a:p>
            <a:r>
              <a:rPr lang="en-US" dirty="0"/>
              <a:t>Medium conversion rate analysis</a:t>
            </a:r>
            <a:endParaRPr lang="en-IN" dirty="0"/>
          </a:p>
        </p:txBody>
      </p:sp>
      <p:sp>
        <p:nvSpPr>
          <p:cNvPr id="3" name="Content Placeholder 2">
            <a:extLst>
              <a:ext uri="{FF2B5EF4-FFF2-40B4-BE49-F238E27FC236}">
                <a16:creationId xmlns:a16="http://schemas.microsoft.com/office/drawing/2014/main" id="{2149A66C-D6F1-124B-CFC6-5B8FFE4D1D48}"/>
              </a:ext>
            </a:extLst>
          </p:cNvPr>
          <p:cNvSpPr>
            <a:spLocks noGrp="1"/>
          </p:cNvSpPr>
          <p:nvPr>
            <p:ph idx="1"/>
          </p:nvPr>
        </p:nvSpPr>
        <p:spPr>
          <a:xfrm>
            <a:off x="748145" y="1773382"/>
            <a:ext cx="10380103" cy="4398818"/>
          </a:xfrm>
          <a:noFill/>
        </p:spPr>
        <p:txBody>
          <a:bodyPr/>
          <a:lstStyle/>
          <a:p>
            <a:pPr marL="0" indent="0">
              <a:buNone/>
            </a:pPr>
            <a:r>
              <a:rPr lang="en-IN" sz="1800" dirty="0"/>
              <a:t>Question: </a:t>
            </a:r>
            <a:r>
              <a:rPr lang="en-US" sz="1800" dirty="0"/>
              <a:t>Which medium has the highest eCommerce conversion rate?</a:t>
            </a:r>
          </a:p>
          <a:p>
            <a:pPr marL="0" indent="0">
              <a:buNone/>
            </a:pPr>
            <a:r>
              <a:rPr lang="en-IN" sz="1800" dirty="0"/>
              <a:t>Answer: CPA medium has the highest conversion rate followed by CPC and organic.</a:t>
            </a:r>
          </a:p>
        </p:txBody>
      </p:sp>
      <p:pic>
        <p:nvPicPr>
          <p:cNvPr id="5" name="Picture 4">
            <a:extLst>
              <a:ext uri="{FF2B5EF4-FFF2-40B4-BE49-F238E27FC236}">
                <a16:creationId xmlns:a16="http://schemas.microsoft.com/office/drawing/2014/main" id="{6BF26A63-19B4-459E-2A25-58793F48B092}"/>
              </a:ext>
            </a:extLst>
          </p:cNvPr>
          <p:cNvPicPr>
            <a:picLocks noChangeAspect="1"/>
          </p:cNvPicPr>
          <p:nvPr/>
        </p:nvPicPr>
        <p:blipFill>
          <a:blip r:embed="rId3"/>
          <a:stretch>
            <a:fillRect/>
          </a:stretch>
        </p:blipFill>
        <p:spPr>
          <a:xfrm>
            <a:off x="514496" y="2450799"/>
            <a:ext cx="6994670" cy="4142936"/>
          </a:xfrm>
          <a:prstGeom prst="rect">
            <a:avLst/>
          </a:prstGeom>
        </p:spPr>
      </p:pic>
      <p:pic>
        <p:nvPicPr>
          <p:cNvPr id="7" name="Picture 6">
            <a:extLst>
              <a:ext uri="{FF2B5EF4-FFF2-40B4-BE49-F238E27FC236}">
                <a16:creationId xmlns:a16="http://schemas.microsoft.com/office/drawing/2014/main" id="{B4EA0236-5D3A-0F6D-A736-262EB2F61F80}"/>
              </a:ext>
            </a:extLst>
          </p:cNvPr>
          <p:cNvPicPr>
            <a:picLocks noChangeAspect="1"/>
          </p:cNvPicPr>
          <p:nvPr/>
        </p:nvPicPr>
        <p:blipFill>
          <a:blip r:embed="rId4"/>
          <a:stretch>
            <a:fillRect/>
          </a:stretch>
        </p:blipFill>
        <p:spPr>
          <a:xfrm>
            <a:off x="7823282" y="2718625"/>
            <a:ext cx="2990850" cy="2828925"/>
          </a:xfrm>
          <a:prstGeom prst="rect">
            <a:avLst/>
          </a:prstGeom>
        </p:spPr>
      </p:pic>
    </p:spTree>
    <p:extLst>
      <p:ext uri="{BB962C8B-B14F-4D97-AF65-F5344CB8AC3E}">
        <p14:creationId xmlns:p14="http://schemas.microsoft.com/office/powerpoint/2010/main" val="354736695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blipFill>
          <a:blip r:embed="rId2">
            <a:alphaModFix amt="99000"/>
          </a:blip>
          <a:tile tx="0" ty="0" sx="100000" sy="100000" flip="none" algn="tl"/>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3EAFAE-F4B5-C197-72D6-77C1082A1595}"/>
              </a:ext>
            </a:extLst>
          </p:cNvPr>
          <p:cNvSpPr>
            <a:spLocks noGrp="1"/>
          </p:cNvSpPr>
          <p:nvPr>
            <p:ph type="title"/>
          </p:nvPr>
        </p:nvSpPr>
        <p:spPr>
          <a:xfrm>
            <a:off x="2050473" y="0"/>
            <a:ext cx="10141526" cy="932873"/>
          </a:xfrm>
        </p:spPr>
        <p:txBody>
          <a:bodyPr/>
          <a:lstStyle/>
          <a:p>
            <a:r>
              <a:rPr lang="en-US" dirty="0"/>
              <a:t>CPA medium analysis </a:t>
            </a:r>
            <a:endParaRPr lang="en-IN" dirty="0"/>
          </a:p>
        </p:txBody>
      </p:sp>
      <p:sp>
        <p:nvSpPr>
          <p:cNvPr id="3" name="Content Placeholder 2">
            <a:extLst>
              <a:ext uri="{FF2B5EF4-FFF2-40B4-BE49-F238E27FC236}">
                <a16:creationId xmlns:a16="http://schemas.microsoft.com/office/drawing/2014/main" id="{2149A66C-D6F1-124B-CFC6-5B8FFE4D1D48}"/>
              </a:ext>
            </a:extLst>
          </p:cNvPr>
          <p:cNvSpPr>
            <a:spLocks noGrp="1"/>
          </p:cNvSpPr>
          <p:nvPr>
            <p:ph idx="1"/>
          </p:nvPr>
        </p:nvSpPr>
        <p:spPr>
          <a:xfrm>
            <a:off x="129309" y="849746"/>
            <a:ext cx="11767128" cy="4350328"/>
          </a:xfrm>
          <a:noFill/>
        </p:spPr>
        <p:txBody>
          <a:bodyPr>
            <a:normAutofit/>
          </a:bodyPr>
          <a:lstStyle/>
          <a:p>
            <a:pPr marL="0" indent="0" fontAlgn="base">
              <a:spcAft>
                <a:spcPts val="0"/>
              </a:spcAft>
              <a:buNone/>
            </a:pPr>
            <a:r>
              <a:rPr lang="en-IN" sz="1600" dirty="0"/>
              <a:t>Question:</a:t>
            </a:r>
            <a:r>
              <a:rPr lang="en-US" sz="1600" dirty="0"/>
              <a:t>If all of the users from the CPA medium are being paid for, are there any sources that you would stop? Are there any that you would spend more money on (assuming you could)?</a:t>
            </a:r>
          </a:p>
          <a:p>
            <a:pPr marL="0" indent="0" fontAlgn="base">
              <a:spcAft>
                <a:spcPts val="0"/>
              </a:spcAft>
              <a:buNone/>
            </a:pPr>
            <a:r>
              <a:rPr lang="en-US" sz="1600" dirty="0"/>
              <a:t>Answer: To answer this question, a subset was created where only sources with CPA medium were there. Then two metrics namely- revenue per transaction and revenue per customer were selected for the analysis. The sources were plotted on the graph. The top source that performed best on both parameters was relevantsite1 while </a:t>
            </a:r>
            <a:r>
              <a:rPr lang="en-US" sz="1600" dirty="0" err="1"/>
              <a:t>goodreferral</a:t>
            </a:r>
            <a:r>
              <a:rPr lang="en-US" sz="1600" dirty="0"/>
              <a:t> performed the worst (ironically). I would spend more money on relevantsite1,majorinfluencer and influencer8 while I would cease spending on </a:t>
            </a:r>
            <a:r>
              <a:rPr lang="en-US" sz="1600" dirty="0" err="1"/>
              <a:t>goodreferral,newssite</a:t>
            </a:r>
            <a:r>
              <a:rPr lang="en-US" sz="1600" dirty="0"/>
              <a:t> and </a:t>
            </a:r>
            <a:r>
              <a:rPr lang="en-US" sz="1600" dirty="0" err="1"/>
              <a:t>anotherinfluencer</a:t>
            </a:r>
            <a:r>
              <a:rPr lang="en-US" sz="1600" dirty="0"/>
              <a:t>. </a:t>
            </a:r>
            <a:endParaRPr lang="en-IN" sz="1600" dirty="0"/>
          </a:p>
        </p:txBody>
      </p:sp>
      <p:pic>
        <p:nvPicPr>
          <p:cNvPr id="5" name="Picture 4">
            <a:extLst>
              <a:ext uri="{FF2B5EF4-FFF2-40B4-BE49-F238E27FC236}">
                <a16:creationId xmlns:a16="http://schemas.microsoft.com/office/drawing/2014/main" id="{0459E5C1-91E9-1CC8-F85C-B261E927D203}"/>
              </a:ext>
            </a:extLst>
          </p:cNvPr>
          <p:cNvPicPr>
            <a:picLocks noChangeAspect="1"/>
          </p:cNvPicPr>
          <p:nvPr/>
        </p:nvPicPr>
        <p:blipFill>
          <a:blip r:embed="rId3"/>
          <a:stretch>
            <a:fillRect/>
          </a:stretch>
        </p:blipFill>
        <p:spPr>
          <a:xfrm>
            <a:off x="2604654" y="2615378"/>
            <a:ext cx="6563649" cy="4148029"/>
          </a:xfrm>
          <a:prstGeom prst="rect">
            <a:avLst/>
          </a:prstGeom>
        </p:spPr>
      </p:pic>
    </p:spTree>
    <p:extLst>
      <p:ext uri="{BB962C8B-B14F-4D97-AF65-F5344CB8AC3E}">
        <p14:creationId xmlns:p14="http://schemas.microsoft.com/office/powerpoint/2010/main" val="195743856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blipFill>
          <a:blip r:embed="rId2">
            <a:alphaModFix amt="99000"/>
          </a:blip>
          <a:tile tx="0" ty="0" sx="100000" sy="100000" flip="none" algn="tl"/>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3EAFAE-F4B5-C197-72D6-77C1082A1595}"/>
              </a:ext>
            </a:extLst>
          </p:cNvPr>
          <p:cNvSpPr>
            <a:spLocks noGrp="1"/>
          </p:cNvSpPr>
          <p:nvPr>
            <p:ph type="title"/>
          </p:nvPr>
        </p:nvSpPr>
        <p:spPr>
          <a:xfrm>
            <a:off x="-117695" y="0"/>
            <a:ext cx="11669918" cy="1122630"/>
          </a:xfrm>
        </p:spPr>
        <p:txBody>
          <a:bodyPr>
            <a:normAutofit/>
          </a:bodyPr>
          <a:lstStyle/>
          <a:p>
            <a:pPr algn="ctr"/>
            <a:r>
              <a:rPr lang="en-US" sz="3200" dirty="0"/>
              <a:t>Observations based on engagement metric analysis </a:t>
            </a:r>
            <a:endParaRPr lang="en-IN" sz="3200" dirty="0"/>
          </a:p>
        </p:txBody>
      </p:sp>
      <p:sp>
        <p:nvSpPr>
          <p:cNvPr id="3" name="Content Placeholder 2">
            <a:extLst>
              <a:ext uri="{FF2B5EF4-FFF2-40B4-BE49-F238E27FC236}">
                <a16:creationId xmlns:a16="http://schemas.microsoft.com/office/drawing/2014/main" id="{2149A66C-D6F1-124B-CFC6-5B8FFE4D1D48}"/>
              </a:ext>
            </a:extLst>
          </p:cNvPr>
          <p:cNvSpPr>
            <a:spLocks noGrp="1"/>
          </p:cNvSpPr>
          <p:nvPr>
            <p:ph idx="1"/>
          </p:nvPr>
        </p:nvSpPr>
        <p:spPr>
          <a:xfrm>
            <a:off x="1" y="923454"/>
            <a:ext cx="11977918" cy="3730028"/>
          </a:xfrm>
          <a:noFill/>
        </p:spPr>
        <p:txBody>
          <a:bodyPr>
            <a:normAutofit/>
          </a:bodyPr>
          <a:lstStyle/>
          <a:p>
            <a:pPr marL="0" indent="0" fontAlgn="base">
              <a:spcAft>
                <a:spcPts val="0"/>
              </a:spcAft>
              <a:buNone/>
            </a:pPr>
            <a:r>
              <a:rPr lang="en-US" sz="1600" dirty="0"/>
              <a:t>Sources like goodsite1, </a:t>
            </a:r>
            <a:r>
              <a:rPr lang="en-US" sz="1600" dirty="0" err="1"/>
              <a:t>goodreferral</a:t>
            </a:r>
            <a:r>
              <a:rPr lang="en-US" sz="1600" dirty="0"/>
              <a:t>, t.co, </a:t>
            </a:r>
            <a:r>
              <a:rPr lang="en-US" sz="1600" dirty="0" err="1"/>
              <a:t>smartnews</a:t>
            </a:r>
            <a:r>
              <a:rPr lang="en-US" sz="1600" dirty="0"/>
              <a:t> and influencersite.jp and mediums like </a:t>
            </a:r>
            <a:r>
              <a:rPr lang="en-US" sz="1600" dirty="0" err="1"/>
              <a:t>none,cpc</a:t>
            </a:r>
            <a:r>
              <a:rPr lang="en-US" sz="1600" dirty="0"/>
              <a:t> and organic have high new user </a:t>
            </a:r>
            <a:r>
              <a:rPr lang="en-US" sz="1600" dirty="0" err="1"/>
              <a:t>percentages.On</a:t>
            </a:r>
            <a:r>
              <a:rPr lang="en-US" sz="1600" dirty="0"/>
              <a:t> the other hand, sources like newssite2,relevantsite1 and retailmenot.com have a lower new user percentage along with </a:t>
            </a:r>
            <a:r>
              <a:rPr lang="en-US" sz="1600" dirty="0" err="1"/>
              <a:t>cpa</a:t>
            </a:r>
            <a:r>
              <a:rPr lang="en-US" sz="1600" dirty="0"/>
              <a:t> medium. </a:t>
            </a:r>
          </a:p>
          <a:p>
            <a:pPr marL="0" indent="0" fontAlgn="base">
              <a:spcAft>
                <a:spcPts val="0"/>
              </a:spcAft>
              <a:buNone/>
            </a:pPr>
            <a:r>
              <a:rPr lang="en-US" sz="1600" dirty="0"/>
              <a:t>Android app is the source and email is the medium that have most sessions per user while Social medium and sources like Instagram, </a:t>
            </a:r>
            <a:r>
              <a:rPr lang="en-US" sz="1600" dirty="0" err="1"/>
              <a:t>goodsite</a:t>
            </a:r>
            <a:r>
              <a:rPr lang="en-US" sz="1600" dirty="0"/>
              <a:t>, </a:t>
            </a:r>
            <a:r>
              <a:rPr lang="en-US" sz="1600" dirty="0" err="1"/>
              <a:t>anothersite</a:t>
            </a:r>
            <a:r>
              <a:rPr lang="en-US" sz="1600" dirty="0"/>
              <a:t> have less sessions per user. </a:t>
            </a:r>
          </a:p>
          <a:p>
            <a:pPr marL="0" indent="0" fontAlgn="base">
              <a:spcAft>
                <a:spcPts val="0"/>
              </a:spcAft>
              <a:buNone/>
            </a:pPr>
            <a:r>
              <a:rPr lang="en-US" sz="1600" dirty="0"/>
              <a:t>Sources like influencer8,influencersite.com and </a:t>
            </a:r>
            <a:r>
              <a:rPr lang="en-US" sz="1600" dirty="0" err="1"/>
              <a:t>rewardsite</a:t>
            </a:r>
            <a:r>
              <a:rPr lang="en-US" sz="1600" dirty="0"/>
              <a:t> while </a:t>
            </a:r>
            <a:r>
              <a:rPr lang="en-US" sz="1600" dirty="0" err="1"/>
              <a:t>cpa</a:t>
            </a:r>
            <a:r>
              <a:rPr lang="en-US" sz="1600" dirty="0"/>
              <a:t> medium have more pages viewed per session. While sources like </a:t>
            </a:r>
            <a:r>
              <a:rPr lang="en-US" sz="1600" dirty="0" err="1"/>
              <a:t>smartnews</a:t>
            </a:r>
            <a:r>
              <a:rPr lang="en-US" sz="1600" dirty="0"/>
              <a:t> and goodsite1 along with email have less page views per session. </a:t>
            </a:r>
          </a:p>
          <a:p>
            <a:pPr marL="0" indent="0" fontAlgn="base">
              <a:spcAft>
                <a:spcPts val="0"/>
              </a:spcAft>
              <a:buNone/>
            </a:pPr>
            <a:r>
              <a:rPr lang="en-US" sz="1600" dirty="0"/>
              <a:t>Highest session duration which means more time spent per session is via influencer8 and organic medium. And social medium and sources like goodsite1and </a:t>
            </a:r>
            <a:r>
              <a:rPr lang="en-US" sz="1600" dirty="0" err="1"/>
              <a:t>smartnews</a:t>
            </a:r>
            <a:r>
              <a:rPr lang="en-US" sz="1600" dirty="0"/>
              <a:t> have lowest time spent per session. </a:t>
            </a:r>
            <a:endParaRPr lang="en-IN" sz="1600" dirty="0"/>
          </a:p>
          <a:p>
            <a:pPr marL="0" indent="0" fontAlgn="base">
              <a:spcAft>
                <a:spcPts val="0"/>
              </a:spcAft>
              <a:buNone/>
            </a:pPr>
            <a:r>
              <a:rPr lang="en-US" sz="1600" dirty="0"/>
              <a:t>Sources like </a:t>
            </a:r>
            <a:r>
              <a:rPr lang="en-US" sz="1600" dirty="0" err="1"/>
              <a:t>goodsite</a:t>
            </a:r>
            <a:r>
              <a:rPr lang="en-US" sz="1600" dirty="0"/>
              <a:t>, </a:t>
            </a:r>
            <a:r>
              <a:rPr lang="en-US" sz="1600" dirty="0" err="1"/>
              <a:t>smartnews</a:t>
            </a:r>
            <a:r>
              <a:rPr lang="en-US" sz="1600" dirty="0"/>
              <a:t> and </a:t>
            </a:r>
            <a:r>
              <a:rPr lang="en-US" sz="1600" dirty="0" err="1"/>
              <a:t>referralsource</a:t>
            </a:r>
            <a:r>
              <a:rPr lang="en-US" sz="1600" dirty="0"/>
              <a:t> and </a:t>
            </a:r>
            <a:r>
              <a:rPr lang="en-US" sz="1600" dirty="0" err="1"/>
              <a:t>cpa</a:t>
            </a:r>
            <a:r>
              <a:rPr lang="en-US" sz="1600" dirty="0"/>
              <a:t> medium have the highest bounce rates while email medium and </a:t>
            </a:r>
            <a:r>
              <a:rPr lang="en-US" sz="1600" dirty="0" err="1"/>
              <a:t>rewardsite</a:t>
            </a:r>
            <a:r>
              <a:rPr lang="en-US" sz="1600" dirty="0"/>
              <a:t> source have lowest bounce rates. </a:t>
            </a:r>
          </a:p>
        </p:txBody>
      </p:sp>
      <p:pic>
        <p:nvPicPr>
          <p:cNvPr id="6" name="Picture 5">
            <a:extLst>
              <a:ext uri="{FF2B5EF4-FFF2-40B4-BE49-F238E27FC236}">
                <a16:creationId xmlns:a16="http://schemas.microsoft.com/office/drawing/2014/main" id="{706A03CA-4A72-869B-4166-EE35C57E6E98}"/>
              </a:ext>
            </a:extLst>
          </p:cNvPr>
          <p:cNvPicPr>
            <a:picLocks noChangeAspect="1"/>
          </p:cNvPicPr>
          <p:nvPr/>
        </p:nvPicPr>
        <p:blipFill>
          <a:blip r:embed="rId3">
            <a:extLst>
              <a:ext uri="{28A0092B-C50C-407E-A947-70E740481C1C}">
                <a14:useLocalDpi xmlns:a14="http://schemas.microsoft.com/office/drawing/2010/main" val="0"/>
              </a:ext>
              <a:ext uri="{837473B0-CC2E-450A-ABE3-18F120FF3D39}">
                <a1611:picAttrSrcUrl xmlns:a1611="http://schemas.microsoft.com/office/drawing/2016/11/main" r:id="rId4"/>
              </a:ext>
            </a:extLst>
          </a:blip>
          <a:stretch>
            <a:fillRect/>
          </a:stretch>
        </p:blipFill>
        <p:spPr>
          <a:xfrm>
            <a:off x="4186800" y="4289023"/>
            <a:ext cx="3433245" cy="2129884"/>
          </a:xfrm>
          <a:prstGeom prst="rect">
            <a:avLst/>
          </a:prstGeom>
        </p:spPr>
      </p:pic>
    </p:spTree>
    <p:extLst>
      <p:ext uri="{BB962C8B-B14F-4D97-AF65-F5344CB8AC3E}">
        <p14:creationId xmlns:p14="http://schemas.microsoft.com/office/powerpoint/2010/main" val="383243988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blipFill>
          <a:blip r:embed="rId2">
            <a:alphaModFix amt="99000"/>
          </a:blip>
          <a:tile tx="0" ty="0" sx="100000" sy="100000" flip="none" algn="tl"/>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3EAFAE-F4B5-C197-72D6-77C1082A1595}"/>
              </a:ext>
            </a:extLst>
          </p:cNvPr>
          <p:cNvSpPr>
            <a:spLocks noGrp="1"/>
          </p:cNvSpPr>
          <p:nvPr>
            <p:ph type="title"/>
          </p:nvPr>
        </p:nvSpPr>
        <p:spPr>
          <a:xfrm>
            <a:off x="129309" y="0"/>
            <a:ext cx="11422913" cy="1140737"/>
          </a:xfrm>
        </p:spPr>
        <p:txBody>
          <a:bodyPr>
            <a:normAutofit fontScale="90000"/>
          </a:bodyPr>
          <a:lstStyle/>
          <a:p>
            <a:pPr algn="ctr"/>
            <a:r>
              <a:rPr lang="en-US" sz="4000" dirty="0"/>
              <a:t>Observations based on Revenue metric analysis </a:t>
            </a:r>
            <a:endParaRPr lang="en-IN" sz="4000" dirty="0"/>
          </a:p>
        </p:txBody>
      </p:sp>
      <p:sp>
        <p:nvSpPr>
          <p:cNvPr id="3" name="Content Placeholder 2">
            <a:extLst>
              <a:ext uri="{FF2B5EF4-FFF2-40B4-BE49-F238E27FC236}">
                <a16:creationId xmlns:a16="http://schemas.microsoft.com/office/drawing/2014/main" id="{2149A66C-D6F1-124B-CFC6-5B8FFE4D1D48}"/>
              </a:ext>
            </a:extLst>
          </p:cNvPr>
          <p:cNvSpPr>
            <a:spLocks noGrp="1"/>
          </p:cNvSpPr>
          <p:nvPr>
            <p:ph idx="1"/>
          </p:nvPr>
        </p:nvSpPr>
        <p:spPr>
          <a:xfrm>
            <a:off x="0" y="796706"/>
            <a:ext cx="11896436" cy="3992578"/>
          </a:xfrm>
          <a:noFill/>
        </p:spPr>
        <p:txBody>
          <a:bodyPr>
            <a:normAutofit/>
          </a:bodyPr>
          <a:lstStyle/>
          <a:p>
            <a:pPr marL="0" indent="0" fontAlgn="base">
              <a:spcAft>
                <a:spcPts val="0"/>
              </a:spcAft>
              <a:buNone/>
            </a:pPr>
            <a:r>
              <a:rPr lang="en-US" sz="1600" dirty="0"/>
              <a:t>Sources like direct and google are the only ones bringing significant revenue while medium none is the one bringing most revenue. Mediums like organic and </a:t>
            </a:r>
            <a:r>
              <a:rPr lang="en-US" sz="1600" dirty="0" err="1"/>
              <a:t>cpc</a:t>
            </a:r>
            <a:r>
              <a:rPr lang="en-US" sz="1600" dirty="0"/>
              <a:t> are decent. </a:t>
            </a:r>
          </a:p>
          <a:p>
            <a:pPr marL="0" indent="0" fontAlgn="base">
              <a:spcAft>
                <a:spcPts val="0"/>
              </a:spcAft>
              <a:buNone/>
            </a:pPr>
            <a:r>
              <a:rPr lang="en-US" sz="1600" dirty="0"/>
              <a:t>If we speak about revenue per user, </a:t>
            </a:r>
            <a:r>
              <a:rPr lang="en-US" sz="1600" dirty="0" err="1"/>
              <a:t>cpc</a:t>
            </a:r>
            <a:r>
              <a:rPr lang="en-US" sz="1600" dirty="0"/>
              <a:t> medium and sources like google, newssite3, android and </a:t>
            </a:r>
            <a:r>
              <a:rPr lang="en-US" sz="1600" dirty="0" err="1"/>
              <a:t>ios</a:t>
            </a:r>
            <a:r>
              <a:rPr lang="en-US" sz="1600" dirty="0"/>
              <a:t> apps are brining highest revenue per user. On the other hand, sources like goodsite1, </a:t>
            </a:r>
            <a:r>
              <a:rPr lang="en-US" sz="1600" dirty="0" err="1"/>
              <a:t>rewardsite</a:t>
            </a:r>
            <a:r>
              <a:rPr lang="en-US" sz="1600" dirty="0"/>
              <a:t> and </a:t>
            </a:r>
            <a:r>
              <a:rPr lang="en-US" sz="1600" dirty="0" err="1"/>
              <a:t>smartsnews</a:t>
            </a:r>
            <a:r>
              <a:rPr lang="en-US" sz="1600" dirty="0"/>
              <a:t> and medium like </a:t>
            </a:r>
            <a:r>
              <a:rPr lang="en-US" sz="1600" dirty="0" err="1"/>
              <a:t>cpa</a:t>
            </a:r>
            <a:r>
              <a:rPr lang="en-US" sz="1600" dirty="0"/>
              <a:t> generate least revenue. </a:t>
            </a:r>
          </a:p>
          <a:p>
            <a:pPr marL="0" indent="0" fontAlgn="base">
              <a:spcAft>
                <a:spcPts val="0"/>
              </a:spcAft>
              <a:buNone/>
            </a:pPr>
            <a:r>
              <a:rPr lang="en-US" sz="1600" dirty="0"/>
              <a:t>Sources like </a:t>
            </a:r>
            <a:r>
              <a:rPr lang="en-US" sz="1600" dirty="0" err="1"/>
              <a:t>reddit,influencersite</a:t>
            </a:r>
            <a:r>
              <a:rPr lang="en-US" sz="1600" dirty="0"/>
              <a:t> and google have highest revenue on a per transaction basis while sources like goodsite1,rewardssite and </a:t>
            </a:r>
            <a:r>
              <a:rPr lang="en-US" sz="1600" dirty="0" err="1"/>
              <a:t>smartnews</a:t>
            </a:r>
            <a:r>
              <a:rPr lang="en-US" sz="1600" dirty="0"/>
              <a:t> have lowest value per transaction. Medium </a:t>
            </a:r>
            <a:r>
              <a:rPr lang="en-US" sz="1600" dirty="0" err="1"/>
              <a:t>cpc</a:t>
            </a:r>
            <a:r>
              <a:rPr lang="en-US" sz="1600" dirty="0"/>
              <a:t> and </a:t>
            </a:r>
            <a:r>
              <a:rPr lang="en-US" sz="1600" dirty="0" err="1"/>
              <a:t>cpa</a:t>
            </a:r>
            <a:r>
              <a:rPr lang="en-US" sz="1600" dirty="0"/>
              <a:t> generate the highest and lowest value per transaction respectively. </a:t>
            </a:r>
          </a:p>
          <a:p>
            <a:pPr marL="0" indent="0" fontAlgn="base">
              <a:spcAft>
                <a:spcPts val="0"/>
              </a:spcAft>
              <a:buNone/>
            </a:pPr>
            <a:r>
              <a:rPr lang="en-US" sz="1600" dirty="0"/>
              <a:t>Medium email has the lowest conversion rate and </a:t>
            </a:r>
            <a:r>
              <a:rPr lang="en-US" sz="1600" dirty="0" err="1"/>
              <a:t>cpa</a:t>
            </a:r>
            <a:r>
              <a:rPr lang="en-US" sz="1600" dirty="0"/>
              <a:t> has the highest conversion rate. Sources like Influencer8 are driving the highest conversion rate along with likes of anothersite,newssite2, influencer4.Sources like rewardsite,goodsite1,Instagram,smartnews and </a:t>
            </a:r>
            <a:r>
              <a:rPr lang="en-US" sz="1600" dirty="0" err="1"/>
              <a:t>klaviyo</a:t>
            </a:r>
            <a:r>
              <a:rPr lang="en-US" sz="1600" dirty="0"/>
              <a:t> have lowest conversion rates. </a:t>
            </a:r>
          </a:p>
          <a:p>
            <a:pPr marL="0" indent="0" fontAlgn="base">
              <a:spcAft>
                <a:spcPts val="0"/>
              </a:spcAft>
              <a:buNone/>
            </a:pPr>
            <a:r>
              <a:rPr lang="en-US" sz="1600" dirty="0"/>
              <a:t>Sources like google and direct have the highest transaction volume alongside None medium. Mediums like </a:t>
            </a:r>
            <a:r>
              <a:rPr lang="en-US" sz="1600" dirty="0" err="1"/>
              <a:t>cpc</a:t>
            </a:r>
            <a:r>
              <a:rPr lang="en-US" sz="1600" dirty="0"/>
              <a:t> and organic do a decent job while other medium disappoint us here in this metric. Other sources besides those two don’t bring any significant transaction volume. </a:t>
            </a:r>
          </a:p>
        </p:txBody>
      </p:sp>
      <p:pic>
        <p:nvPicPr>
          <p:cNvPr id="5" name="Picture 4">
            <a:extLst>
              <a:ext uri="{FF2B5EF4-FFF2-40B4-BE49-F238E27FC236}">
                <a16:creationId xmlns:a16="http://schemas.microsoft.com/office/drawing/2014/main" id="{CA3A1CFF-EB27-9FB1-6210-9380ADED11BE}"/>
              </a:ext>
            </a:extLst>
          </p:cNvPr>
          <p:cNvPicPr>
            <a:picLocks noChangeAspect="1"/>
          </p:cNvPicPr>
          <p:nvPr/>
        </p:nvPicPr>
        <p:blipFill>
          <a:blip r:embed="rId3">
            <a:extLst>
              <a:ext uri="{28A0092B-C50C-407E-A947-70E740481C1C}">
                <a14:useLocalDpi xmlns:a14="http://schemas.microsoft.com/office/drawing/2010/main" val="0"/>
              </a:ext>
              <a:ext uri="{837473B0-CC2E-450A-ABE3-18F120FF3D39}">
                <a1611:picAttrSrcUrl xmlns:a1611="http://schemas.microsoft.com/office/drawing/2016/11/main" r:id="rId4"/>
              </a:ext>
            </a:extLst>
          </a:blip>
          <a:stretch>
            <a:fillRect/>
          </a:stretch>
        </p:blipFill>
        <p:spPr>
          <a:xfrm>
            <a:off x="3757188" y="4465121"/>
            <a:ext cx="3431263" cy="2288766"/>
          </a:xfrm>
          <a:prstGeom prst="rect">
            <a:avLst/>
          </a:prstGeom>
        </p:spPr>
      </p:pic>
    </p:spTree>
    <p:extLst>
      <p:ext uri="{BB962C8B-B14F-4D97-AF65-F5344CB8AC3E}">
        <p14:creationId xmlns:p14="http://schemas.microsoft.com/office/powerpoint/2010/main" val="246860356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blipFill>
          <a:blip r:embed="rId2">
            <a:alphaModFix amt="99000"/>
          </a:blip>
          <a:tile tx="0" ty="0" sx="100000" sy="100000" flip="none" algn="tl"/>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3EAFAE-F4B5-C197-72D6-77C1082A1595}"/>
              </a:ext>
            </a:extLst>
          </p:cNvPr>
          <p:cNvSpPr>
            <a:spLocks noGrp="1"/>
          </p:cNvSpPr>
          <p:nvPr>
            <p:ph type="title"/>
          </p:nvPr>
        </p:nvSpPr>
        <p:spPr>
          <a:xfrm>
            <a:off x="129309" y="0"/>
            <a:ext cx="11422913" cy="1140737"/>
          </a:xfrm>
        </p:spPr>
        <p:txBody>
          <a:bodyPr>
            <a:normAutofit/>
          </a:bodyPr>
          <a:lstStyle/>
          <a:p>
            <a:pPr algn="ctr"/>
            <a:r>
              <a:rPr lang="en-US" sz="2400" dirty="0"/>
              <a:t>Recommendations to the stakeholder</a:t>
            </a:r>
            <a:endParaRPr lang="en-IN" sz="6000" dirty="0"/>
          </a:p>
        </p:txBody>
      </p:sp>
      <p:sp>
        <p:nvSpPr>
          <p:cNvPr id="3" name="Content Placeholder 2">
            <a:extLst>
              <a:ext uri="{FF2B5EF4-FFF2-40B4-BE49-F238E27FC236}">
                <a16:creationId xmlns:a16="http://schemas.microsoft.com/office/drawing/2014/main" id="{2149A66C-D6F1-124B-CFC6-5B8FFE4D1D48}"/>
              </a:ext>
            </a:extLst>
          </p:cNvPr>
          <p:cNvSpPr>
            <a:spLocks noGrp="1"/>
          </p:cNvSpPr>
          <p:nvPr>
            <p:ph idx="1"/>
          </p:nvPr>
        </p:nvSpPr>
        <p:spPr>
          <a:xfrm>
            <a:off x="1" y="841973"/>
            <a:ext cx="11896436" cy="3929204"/>
          </a:xfrm>
          <a:noFill/>
        </p:spPr>
        <p:txBody>
          <a:bodyPr>
            <a:normAutofit fontScale="92500"/>
          </a:bodyPr>
          <a:lstStyle/>
          <a:p>
            <a:pPr marL="0" indent="0" fontAlgn="base">
              <a:spcAft>
                <a:spcPts val="0"/>
              </a:spcAft>
              <a:buNone/>
            </a:pPr>
            <a:r>
              <a:rPr lang="en-US" sz="1600" dirty="0"/>
              <a:t>Based on the observations I will make the following recommendations based on various aspects. </a:t>
            </a:r>
          </a:p>
          <a:p>
            <a:pPr marL="342900" indent="-342900" fontAlgn="base">
              <a:spcAft>
                <a:spcPts val="0"/>
              </a:spcAft>
              <a:buFont typeface="+mj-lt"/>
              <a:buAutoNum type="arabicPeriod"/>
            </a:pPr>
            <a:r>
              <a:rPr lang="en-US" sz="1600" dirty="0"/>
              <a:t>Prioritize High-Performing </a:t>
            </a:r>
            <a:r>
              <a:rPr lang="en-US" sz="1600" dirty="0" err="1"/>
              <a:t>Channels:Increase</a:t>
            </a:r>
            <a:r>
              <a:rPr lang="en-US" sz="1600" dirty="0"/>
              <a:t> investment in Google, Direct, and None mediums, which generate the most revenue and </a:t>
            </a:r>
            <a:r>
              <a:rPr lang="en-US" sz="1600" dirty="0" err="1"/>
              <a:t>transactions.Continue</a:t>
            </a:r>
            <a:r>
              <a:rPr lang="en-US" sz="1600" dirty="0"/>
              <a:t> focusing on CPC campaigns, as they drive high revenue per user and per transaction.</a:t>
            </a:r>
          </a:p>
          <a:p>
            <a:pPr marL="342900" indent="-342900" fontAlgn="base">
              <a:spcAft>
                <a:spcPts val="0"/>
              </a:spcAft>
              <a:buFont typeface="+mj-lt"/>
              <a:buAutoNum type="arabicPeriod"/>
            </a:pPr>
            <a:r>
              <a:rPr lang="en-US" sz="1600" dirty="0"/>
              <a:t>Optimize Underperforming </a:t>
            </a:r>
            <a:r>
              <a:rPr lang="en-US" sz="1600" dirty="0" err="1"/>
              <a:t>Channels:Re-evaluate</a:t>
            </a:r>
            <a:r>
              <a:rPr lang="en-US" sz="1600" dirty="0"/>
              <a:t> or adjust strategies for goodsite1, </a:t>
            </a:r>
            <a:r>
              <a:rPr lang="en-US" sz="1600" dirty="0" err="1"/>
              <a:t>smartnews</a:t>
            </a:r>
            <a:r>
              <a:rPr lang="en-US" sz="1600" dirty="0"/>
              <a:t>, and </a:t>
            </a:r>
            <a:r>
              <a:rPr lang="en-US" sz="1600" dirty="0" err="1"/>
              <a:t>rewardsite</a:t>
            </a:r>
            <a:r>
              <a:rPr lang="en-US" sz="1600" dirty="0"/>
              <a:t>, which have low revenue per user and conversion rates.</a:t>
            </a:r>
          </a:p>
          <a:p>
            <a:pPr marL="342900" indent="-342900" fontAlgn="base">
              <a:spcAft>
                <a:spcPts val="0"/>
              </a:spcAft>
              <a:buFont typeface="+mj-lt"/>
              <a:buAutoNum type="arabicPeriod"/>
            </a:pPr>
            <a:r>
              <a:rPr lang="en-US" sz="1600" dirty="0"/>
              <a:t>Review the CPA medium, which has a high conversion rate but low revenue per transaction.</a:t>
            </a:r>
          </a:p>
          <a:p>
            <a:pPr marL="342900" indent="-342900" fontAlgn="base">
              <a:spcAft>
                <a:spcPts val="0"/>
              </a:spcAft>
              <a:buFont typeface="+mj-lt"/>
              <a:buAutoNum type="arabicPeriod"/>
            </a:pPr>
            <a:r>
              <a:rPr lang="en-US" sz="1600" dirty="0"/>
              <a:t>Enhance Engagement on Social </a:t>
            </a:r>
            <a:r>
              <a:rPr lang="en-US" sz="1600" dirty="0" err="1"/>
              <a:t>Channels:Improve</a:t>
            </a:r>
            <a:r>
              <a:rPr lang="en-US" sz="1600" dirty="0"/>
              <a:t> engagement on Instagram, </a:t>
            </a:r>
            <a:r>
              <a:rPr lang="en-US" sz="1600" dirty="0" err="1"/>
              <a:t>anothersite</a:t>
            </a:r>
            <a:r>
              <a:rPr lang="en-US" sz="1600" dirty="0"/>
              <a:t>, and </a:t>
            </a:r>
            <a:r>
              <a:rPr lang="en-US" sz="1600" dirty="0" err="1"/>
              <a:t>goodsite</a:t>
            </a:r>
            <a:r>
              <a:rPr lang="en-US" sz="1600" dirty="0"/>
              <a:t> by offering richer content like videos and interactive </a:t>
            </a:r>
            <a:r>
              <a:rPr lang="en-US" sz="1600" dirty="0" err="1"/>
              <a:t>posts.For</a:t>
            </a:r>
            <a:r>
              <a:rPr lang="en-US" sz="1600" dirty="0"/>
              <a:t> </a:t>
            </a:r>
            <a:r>
              <a:rPr lang="en-US" sz="1600" dirty="0" err="1"/>
              <a:t>smartnews</a:t>
            </a:r>
            <a:r>
              <a:rPr lang="en-US" sz="1600" dirty="0"/>
              <a:t> and goodsite1, optimize landing pages and user experience to increase session duration and page views.</a:t>
            </a:r>
          </a:p>
          <a:p>
            <a:pPr marL="342900" indent="-342900" fontAlgn="base">
              <a:spcAft>
                <a:spcPts val="0"/>
              </a:spcAft>
              <a:buFont typeface="+mj-lt"/>
              <a:buAutoNum type="arabicPeriod"/>
            </a:pPr>
            <a:r>
              <a:rPr lang="en-US" sz="1600" dirty="0"/>
              <a:t>Boost Email Conversion </a:t>
            </a:r>
            <a:r>
              <a:rPr lang="en-US" sz="1600" dirty="0" err="1"/>
              <a:t>Rate:Refine</a:t>
            </a:r>
            <a:r>
              <a:rPr lang="en-US" sz="1600" dirty="0"/>
              <a:t> the email medium strategy by personalizing offers and improving segmentation to drive more </a:t>
            </a:r>
            <a:r>
              <a:rPr lang="en-US" sz="1600" dirty="0" err="1"/>
              <a:t>conversions.Capitalize</a:t>
            </a:r>
            <a:r>
              <a:rPr lang="en-US" sz="1600" dirty="0"/>
              <a:t> on High-Engagement </a:t>
            </a:r>
            <a:r>
              <a:rPr lang="en-US" sz="1600" dirty="0" err="1"/>
              <a:t>Channels:Leverage</a:t>
            </a:r>
            <a:r>
              <a:rPr lang="en-US" sz="1600" dirty="0"/>
              <a:t> Influencer8 and the organic medium with targeted campaigns to convert their higher engagement into sales.</a:t>
            </a:r>
          </a:p>
          <a:p>
            <a:pPr marL="342900" indent="-342900" fontAlgn="base">
              <a:spcAft>
                <a:spcPts val="0"/>
              </a:spcAft>
              <a:buFont typeface="+mj-lt"/>
              <a:buAutoNum type="arabicPeriod"/>
            </a:pPr>
            <a:r>
              <a:rPr lang="en-US" sz="1600" dirty="0"/>
              <a:t>Reduce Bounce </a:t>
            </a:r>
            <a:r>
              <a:rPr lang="en-US" sz="1600" dirty="0" err="1"/>
              <a:t>Rates:Lower</a:t>
            </a:r>
            <a:r>
              <a:rPr lang="en-US" sz="1600" dirty="0"/>
              <a:t> bounce rates on goodsite1, </a:t>
            </a:r>
            <a:r>
              <a:rPr lang="en-US" sz="1600" dirty="0" err="1"/>
              <a:t>smartnews</a:t>
            </a:r>
            <a:r>
              <a:rPr lang="en-US" sz="1600" dirty="0"/>
              <a:t>, and the CPA medium by improving page relevance, speed, and design.</a:t>
            </a:r>
          </a:p>
        </p:txBody>
      </p:sp>
      <p:pic>
        <p:nvPicPr>
          <p:cNvPr id="7" name="Picture 6">
            <a:extLst>
              <a:ext uri="{FF2B5EF4-FFF2-40B4-BE49-F238E27FC236}">
                <a16:creationId xmlns:a16="http://schemas.microsoft.com/office/drawing/2014/main" id="{E61EE3F0-69D7-6FE1-8619-1B6B4FBE920F}"/>
              </a:ext>
            </a:extLst>
          </p:cNvPr>
          <p:cNvPicPr>
            <a:picLocks noChangeAspect="1"/>
          </p:cNvPicPr>
          <p:nvPr/>
        </p:nvPicPr>
        <p:blipFill>
          <a:blip r:embed="rId3">
            <a:extLst>
              <a:ext uri="{28A0092B-C50C-407E-A947-70E740481C1C}">
                <a14:useLocalDpi xmlns:a14="http://schemas.microsoft.com/office/drawing/2010/main" val="0"/>
              </a:ext>
              <a:ext uri="{837473B0-CC2E-450A-ABE3-18F120FF3D39}">
                <a1611:picAttrSrcUrl xmlns:a1611="http://schemas.microsoft.com/office/drawing/2016/11/main" r:id="rId4"/>
              </a:ext>
            </a:extLst>
          </a:blip>
          <a:stretch>
            <a:fillRect/>
          </a:stretch>
        </p:blipFill>
        <p:spPr>
          <a:xfrm>
            <a:off x="4905515" y="4819493"/>
            <a:ext cx="2380969" cy="1587313"/>
          </a:xfrm>
          <a:prstGeom prst="rect">
            <a:avLst/>
          </a:prstGeom>
        </p:spPr>
      </p:pic>
    </p:spTree>
    <p:extLst>
      <p:ext uri="{BB962C8B-B14F-4D97-AF65-F5344CB8AC3E}">
        <p14:creationId xmlns:p14="http://schemas.microsoft.com/office/powerpoint/2010/main" val="4110754865"/>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Wood Type">
  <a:themeElements>
    <a:clrScheme name="Wood Type">
      <a:dk1>
        <a:sysClr val="windowText" lastClr="000000"/>
      </a:dk1>
      <a:lt1>
        <a:sysClr val="window" lastClr="FFFFFF"/>
      </a:lt1>
      <a:dk2>
        <a:srgbClr val="84ACB6"/>
      </a:dk2>
      <a:lt2>
        <a:srgbClr val="EBE9DD"/>
      </a:lt2>
      <a:accent1>
        <a:srgbClr val="6F8183"/>
      </a:accent1>
      <a:accent2>
        <a:srgbClr val="967E96"/>
      </a:accent2>
      <a:accent3>
        <a:srgbClr val="CCC893"/>
      </a:accent3>
      <a:accent4>
        <a:srgbClr val="A54D74"/>
      </a:accent4>
      <a:accent5>
        <a:srgbClr val="949C6B"/>
      </a:accent5>
      <a:accent6>
        <a:srgbClr val="766A50"/>
      </a:accent6>
      <a:hlink>
        <a:srgbClr val="CC6600"/>
      </a:hlink>
      <a:folHlink>
        <a:srgbClr val="777777"/>
      </a:folHlink>
    </a:clrScheme>
    <a:fontScheme name="Wood Type">
      <a:majorFont>
        <a:latin typeface="Century Gothic" panose="020B0502020202020204"/>
        <a:ea typeface=""/>
        <a:cs typeface=""/>
        <a:font script="Jpan" typeface="HGｺﾞｼｯｸM"/>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ajorFont>
      <a:minorFont>
        <a:latin typeface="Bookman Old Style" panose="02050604050505020204"/>
        <a:ea typeface=""/>
        <a:cs typeface=""/>
        <a:font script="Grek" typeface="Cambria"/>
        <a:font script="Cyrl" typeface="Cambria"/>
        <a:font script="Jpan" typeface="HG明朝E"/>
        <a:font script="Hang" typeface="돋움"/>
        <a:font script="Hans" typeface="宋体"/>
        <a:font script="Hant" typeface="標楷體"/>
        <a:font script="Arab" typeface="Times New Roman"/>
        <a:font script="Hebr" typeface="Times New Roman"/>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Wood Type">
      <a:fillStyleLst>
        <a:solidFill>
          <a:schemeClr val="phClr"/>
        </a:solidFill>
        <a:blipFill rotWithShape="1">
          <a:blip xmlns:r="http://schemas.openxmlformats.org/officeDocument/2006/relationships" r:embed="rId1">
            <a:duotone>
              <a:schemeClr val="phClr">
                <a:tint val="70000"/>
                <a:shade val="63000"/>
              </a:schemeClr>
              <a:schemeClr val="phClr">
                <a:tint val="10000"/>
                <a:satMod val="150000"/>
              </a:schemeClr>
            </a:duotone>
          </a:blip>
          <a:tile tx="0" ty="0" sx="60000" sy="59000" flip="none" algn="tl"/>
        </a:blipFill>
        <a:blipFill rotWithShape="1">
          <a:blip xmlns:r="http://schemas.openxmlformats.org/officeDocument/2006/relationships" r:embed="rId1">
            <a:duotone>
              <a:schemeClr val="phClr">
                <a:shade val="36000"/>
                <a:satMod val="120000"/>
              </a:schemeClr>
              <a:schemeClr val="phClr">
                <a:tint val="40000"/>
              </a:schemeClr>
            </a:duotone>
          </a:blip>
          <a:tile tx="0" ty="0" sx="60000" sy="59000" flip="none" algn="tl"/>
        </a:blipFill>
      </a:fillStyleLst>
      <a:lnStyleLst>
        <a:ln w="6350"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softEdge rad="12700"/>
          </a:effectLst>
        </a:effectStyle>
        <a:effectStyle>
          <a:effectLst>
            <a:outerShdw blurRad="50800" dist="19050" dir="5400000" algn="tl" rotWithShape="0">
              <a:srgbClr val="000000">
                <a:alpha val="60000"/>
              </a:srgbClr>
            </a:outerShdw>
            <a:softEdge rad="12700"/>
          </a:effectLst>
        </a:effectStyle>
      </a:effectStyleLst>
      <a:bgFillStyleLst>
        <a:solidFill>
          <a:schemeClr val="phClr"/>
        </a:solidFill>
        <a:solidFill>
          <a:schemeClr val="phClr">
            <a:shade val="97000"/>
            <a:satMod val="150000"/>
          </a:schemeClr>
        </a:solidFill>
        <a:blipFill rotWithShape="1">
          <a:blip xmlns:r="http://schemas.openxmlformats.org/officeDocument/2006/relationships" r:embed="rId1">
            <a:duotone>
              <a:schemeClr val="phClr">
                <a:tint val="75000"/>
                <a:shade val="58000"/>
                <a:satMod val="120000"/>
              </a:schemeClr>
              <a:schemeClr val="phClr">
                <a:tint val="50000"/>
                <a:shade val="96000"/>
              </a:schemeClr>
            </a:duotone>
          </a:blip>
          <a:tile tx="0" ty="0" sx="100000" sy="100000" flip="none" algn="tl"/>
        </a:blipFill>
      </a:bgFillStyleLst>
    </a:fmtScheme>
  </a:themeElements>
  <a:objectDefaults/>
  <a:extraClrSchemeLst/>
  <a:extLst>
    <a:ext uri="{05A4C25C-085E-4340-85A3-A5531E510DB2}">
      <thm15:themeFamily xmlns:thm15="http://schemas.microsoft.com/office/thememl/2012/main" name="Wood Type" id="{7ACABC62-BF99-48CF-A9DC-4DB89C7B13DC}" vid="{8E89CD47-BF55-4DDE-B823-2283AA7E7695}"/>
    </a:ext>
  </a:extLst>
</a:theme>
</file>

<file path=docProps/app.xml><?xml version="1.0" encoding="utf-8"?>
<Properties xmlns="http://schemas.openxmlformats.org/officeDocument/2006/extended-properties" xmlns:vt="http://schemas.openxmlformats.org/officeDocument/2006/docPropsVTypes">
  <Template>Wood Type</Template>
  <TotalTime>844</TotalTime>
  <Words>1467</Words>
  <Application>Microsoft Office PowerPoint</Application>
  <PresentationFormat>Widescreen</PresentationFormat>
  <Paragraphs>57</Paragraphs>
  <Slides>10</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10</vt:i4>
      </vt:variant>
    </vt:vector>
  </HeadingPairs>
  <TitlesOfParts>
    <vt:vector size="15" baseType="lpstr">
      <vt:lpstr>Arial</vt:lpstr>
      <vt:lpstr>Bookman Old Style</vt:lpstr>
      <vt:lpstr>Century Gothic</vt:lpstr>
      <vt:lpstr>Wingdings</vt:lpstr>
      <vt:lpstr>Wood Type</vt:lpstr>
      <vt:lpstr>Channel analysis </vt:lpstr>
      <vt:lpstr>Report overview</vt:lpstr>
      <vt:lpstr>A brief about the data </vt:lpstr>
      <vt:lpstr>Key metrics</vt:lpstr>
      <vt:lpstr>Pay-per-click source revenue analysis</vt:lpstr>
      <vt:lpstr>Medium conversion rate analysis</vt:lpstr>
      <vt:lpstr>CPA medium analysis </vt:lpstr>
      <vt:lpstr>Observations based on engagement metric analysis </vt:lpstr>
      <vt:lpstr>Observations based on Revenue metric analysis </vt:lpstr>
      <vt:lpstr>Recommendations to the stakeholder</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Ishan Dutta</dc:creator>
  <cp:lastModifiedBy>Ishan Dutta</cp:lastModifiedBy>
  <cp:revision>4</cp:revision>
  <dcterms:created xsi:type="dcterms:W3CDTF">2024-10-05T17:01:50Z</dcterms:created>
  <dcterms:modified xsi:type="dcterms:W3CDTF">2024-10-06T17:34:39Z</dcterms:modified>
</cp:coreProperties>
</file>